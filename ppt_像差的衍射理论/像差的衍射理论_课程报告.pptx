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5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像差的衍射理论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Diffraction Theory of Aberrations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DDE4F0"/>
                </a:solidFill>
                <a:latin typeface="Microsoft YaHei"/>
                <a:ea typeface="Microsoft YaHei"/>
                <a:cs typeface="Microsoft YaHei"/>
              </a:rPr>
              <a:t>基本原理   ·   点扩散函数 (PSF)   ·   Zernike 多项式   ·   Nijboer–Zernike 理论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0" i="0">
                <a:solidFill>
                  <a:srgbClr val="DDE4F0"/>
                </a:solidFill>
                <a:latin typeface="Microsoft YaHei"/>
                <a:ea typeface="Microsoft YaHei"/>
                <a:cs typeface="Microsoft YaHei"/>
              </a:rPr>
              <a:t>前沿文献：① Nijboer–Zernike 理论用于空间引力波探测   ② 深度学习像差反演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《光学原理》课程报告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报告结构  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 /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48640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第一部分  基本原理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1. 从几何像差到衍射像差：为什么需要衍射理论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2. 波像差函数 W 与光瞳函数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3. 衍射积分与点扩散函数 (PSF)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4. 理想 PSF：艾里斑 (Airy disk)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5. 各类像差对 PSF 的影响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6. Zernike 圆多项式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7. Nijboer–Zernike 衍射理论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8. 斯特列尔比与 Maréchal 判据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9. 光学传递函数 MTF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10. 扩展 Nijboer–Zernike (ENZ) 理论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21208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第二部分  前沿文献调研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文献 A (2026)：将 Nijboer–Zernike 理论用于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空间引力波探测中远场波前误差与 TTL 噪声建模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文献 B (2024)：用卷积神经网络从离焦 PSF 图像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直接预测 Zernike 系数，实现快速像差反演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第三部分  总结与展望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· 经典衍射像差理论今天依然“活着”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· 正在与计算成像 / 人工智能深度融合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第一部分 · 基本原理 (1/10)  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从几何像差到衍射像差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几何光学</a:t>
            </a:r>
            <a:r>
              <a:rPr sz="15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：用“光线”描述成像，像差 = 光线偏离理想像点的程度（横向像差、纵向像差）。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适用于像差较大、远大于波长的系统；可用 Seidel 五种初级像差（球差、彗差、像散、场曲、畸变）描述。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衍射光学</a:t>
            </a:r>
            <a:r>
              <a:rPr sz="15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：当系统已被校正到接近“衍射极限”，残余像差与波长 λ 同量级，光线模型失效。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此时必须把光当作</a:t>
            </a: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波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 来处理：像点不再是一个点，而是一个由衍射决定的</a:t>
            </a: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强度分布（点扩散函数 PSF）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像差的作用：改变光瞳上的相位分布 → 改变 PSF 的形状 → 降低成像分辨率与对比度。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05156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138928"/>
            <a:ext cx="1042416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核心思想：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“像差的衍射理论” 研究 </a:t>
            </a:r>
            <a:r>
              <a:rPr sz="1400" b="1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波像差 W(x,y)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 如何通过 </a:t>
            </a:r>
            <a:r>
              <a:rPr sz="1400" b="1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衍射积分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 决定像面光场（PSF / OTF），并据此评价与反演光学系统。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第一部分 · 基本原理 (2/10)  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波像差函数 W 与光瞳函数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585216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波像差 W：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出射光瞳上，实际波前相对理想参考球面（球心在高斯像点）的光程差。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1B2A4A"/>
                </a:solidFill>
                <a:latin typeface="Cambria Math"/>
                <a:ea typeface="Cambria Math"/>
                <a:cs typeface="Cambria Math"/>
              </a:rPr>
              <a:t>相位形式：  Φ(ρ,θ) = (2π/λ) · W(ρ,θ)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光瞳函数（含像差）：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1B2A4A"/>
                </a:solidFill>
                <a:latin typeface="Cambria Math"/>
                <a:ea typeface="Cambria Math"/>
                <a:cs typeface="Cambria Math"/>
              </a:rPr>
              <a:t>P(ρ,θ) = A(ρ,θ) · exp[ i · (2π/λ) W(ρ,θ) ]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A(ρ,θ)：振幅（光阑形状 / 透过率）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相位项 exp(iΦ)：像差全部信息所在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ρ：归一化光瞳半径 (0~1)，θ：方位角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一句话：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像差 = 光瞳上的相位畸变。</a:t>
            </a:r>
          </a:p>
        </p:txBody>
      </p:sp>
      <p:pic>
        <p:nvPicPr>
          <p:cNvPr id="8" name="Picture 7" descr="01_wavefront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89850"/>
            <a:ext cx="5394960" cy="31697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62356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示意图（自绘）：波像差 W 即实际波前对理想参考球面的偏离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第一部分 · 基本原理 (3/10)  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衍射积分与点扩散函数 (PSF)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像面复振幅 = 光瞳函数的（夫琅禾费 / Debye）衍射积分：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550" b="1" i="0">
                <a:solidFill>
                  <a:srgbClr val="1B2A4A"/>
                </a:solidFill>
                <a:latin typeface="Cambria Math"/>
                <a:ea typeface="Cambria Math"/>
                <a:cs typeface="Cambria Math"/>
              </a:rPr>
              <a:t>U(v,φ;f) = ∬  exp[ iΦ(ρ,θ) ] · exp[ i·½f·ρ² ] · exp[ −i·v·ρ·cos(θ−φ) ] · ρ dρ dθ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点扩散函数（PSF，像面强度分布）：   </a:t>
            </a:r>
            <a:r>
              <a:rPr sz="1550" b="1" i="0">
                <a:solidFill>
                  <a:srgbClr val="1B2A4A"/>
                </a:solidFill>
                <a:latin typeface="Cambria Math"/>
                <a:ea typeface="Cambria Math"/>
                <a:cs typeface="Cambria Math"/>
              </a:rPr>
              <a:t>I(v,φ) = | U(v,φ) |²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符号说明：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v = (2π/λ)(a/R)·r   —— 像面归一化径向坐标（a 为光瞳半径，R 为参考球面半径，r 为实际像面半径）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f —— 归一化离焦参量（轴向坐标）；φ —— 像面方位角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Φ(ρ,θ) = (2π/λ)W —— 像差相位；积分在单位圆光瞳上进行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266944"/>
            <a:ext cx="104241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数学本质：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PSF 是光瞳函数的傅里叶变换的模平方；OTF（光学传递函数）是光瞳函数的自相关。像差 → 相位畸变 → PSF 展宽、MTF 下降。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第一部分 · 基本原理 (4/10)  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理想 PSF：艾里斑 (Airy disk)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pic>
        <p:nvPicPr>
          <p:cNvPr id="7" name="Picture 6" descr="03_ai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41538"/>
            <a:ext cx="6858000" cy="31406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463040"/>
            <a:ext cx="420624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无像差、圆形光阑下，PSF 为著名的艾里斑：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1B2A4A"/>
                </a:solidFill>
                <a:latin typeface="Cambria Math"/>
                <a:ea typeface="Cambria Math"/>
                <a:cs typeface="Cambria Math"/>
              </a:rPr>
              <a:t>I(v) = [ 2J₁(v) / v ]²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J₁ 为一阶贝塞尔函数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第一暗环位于 v = 3.832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中央亮斑集中约 84% 能量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艾里斑大小 → 衍射极限分辨率（瑞利判据）。这是衡量一切像差影响的“基准”。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自绘（由光瞳函数 FFT 计算）：艾里斑二维分布与径向强度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第一部分 · 基本原理 (5/10)  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各类像差对 PSF 的影响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pic>
        <p:nvPicPr>
          <p:cNvPr id="7" name="Picture 6" descr="04_aberrated_ps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51943"/>
            <a:ext cx="11247120" cy="29482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自绘（FFT 计算，各像差 RMS=0.25λ）：像差越大，PSF 偏离艾里斑越明显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88136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• 离焦 (Defocus)：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亮斑展宽、能量向外环转移；   </a:t>
            </a:r>
            <a:r>
              <a:rPr sz="135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• 像散 (Astigmatism)：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沿两正交方向拉伸成椭圆/十字。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• 彗差 (Coma)：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不对称的“彗星尾”，破坏轴对称；   </a:t>
            </a:r>
            <a:r>
              <a:rPr sz="13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• 球差 (Spherical)：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中心亮斑变弱、外围出现明显光晕。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结论：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不同像差在像面上留下各自“指纹”——这正是后面“由 PSF 反演像差”的物理基础。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第一部分 · 基本原理 (6/10)  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Zernike 圆多项式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pic>
        <p:nvPicPr>
          <p:cNvPr id="7" name="Picture 6" descr="02_zernike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86310"/>
            <a:ext cx="5486400" cy="40511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8521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自绘：前几项 Zernike 多项式的相位分布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56692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把波像差展开为一组在单位圆上正交的多项式：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1B2A4A"/>
                </a:solidFill>
                <a:latin typeface="Cambria Math"/>
                <a:ea typeface="Cambria Math"/>
                <a:cs typeface="Cambria Math"/>
              </a:rPr>
              <a:t>W(ρ,θ) = Σ cₙᵐ · Zₙᵐ(ρ,θ)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1B2A4A"/>
                </a:solidFill>
                <a:latin typeface="Cambria Math"/>
                <a:ea typeface="Cambria Math"/>
                <a:cs typeface="Cambria Math"/>
              </a:rPr>
              <a:t>Zₙᵐ(ρ,θ) = Rₙᵐ(ρ) · {cos / sin}(mθ)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为什么用它？三大优点：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① 正交性 → 总方差 = 各项系数平方和，</a:t>
            </a:r>
            <a:r>
              <a:rPr sz="1350" b="1" i="0">
                <a:solidFill>
                  <a:srgbClr val="1B2A4A"/>
                </a:solidFill>
                <a:latin typeface="Cambria Math"/>
                <a:ea typeface="Cambria Math"/>
                <a:cs typeface="Cambria Math"/>
              </a:rPr>
              <a:t>σ²_W = Σ (cₙᵐ)²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② 每一项对应一种“平衡像差”（如 Z₄⁰ = 球差与离焦的最优平衡）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③ 与经典 Seidel 像差一一对应：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Cambria Math"/>
                <a:ea typeface="Cambria Math"/>
                <a:cs typeface="Cambria Math"/>
              </a:rPr>
              <a:t>   倾斜 Z₁¹ · 离焦 Z₂⁰ · 像散 Z₂² · 彗差 Z₃¹ · 球差 Z₄⁰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第一部分 · 基本原理 (7/10)  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Nijboer–Zernike 衍射理论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585216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Nijboer (1942–47) &amp; Zernike：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把像差用 Zernike 多项式展开后，</a:t>
            </a: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逐项解析地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计算其衍射 PSF。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关键结果——每个 Zernike 项的衍射积分都是一个解析的贝塞尔函数：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1B2A4A"/>
                </a:solidFill>
                <a:latin typeface="Cambria Math"/>
                <a:ea typeface="Cambria Math"/>
                <a:cs typeface="Cambria Math"/>
              </a:rPr>
              <a:t>∫₀¹ Rₙᵐ(ρ) Jₘ(vρ) ρ dρ = (−1)^((n−m)/2) · Jₙ₊₁(v)/v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意义：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把“算衍射积分”变成“查贝塞尔函数”，给出小像差下 PSF 的解析表达；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是连接 波像差(Zernike) ↔ 像面强度(PSF) 的桥梁；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• 历史局限：原始理论仅适用于小像差、无离焦的标量近似。</a:t>
            </a:r>
          </a:p>
        </p:txBody>
      </p:sp>
      <p:pic>
        <p:nvPicPr>
          <p:cNvPr id="8" name="Picture 7" descr="07_nijboer_zerni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9300"/>
            <a:ext cx="5303520" cy="3093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576072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自绘：各 Zernike 项衍射积分 = 解析贝塞尔函数 Jₙ₊₁(v)/v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第一部分 · 基本原理 (8/10)  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斯特列尔比与 Maréchal 判据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pic>
        <p:nvPicPr>
          <p:cNvPr id="7" name="Picture 6" descr="05_streh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84315"/>
            <a:ext cx="6583680" cy="39465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52160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自绘：Strehl 比随 RMS 波像差的变化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463040"/>
            <a:ext cx="448056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斯特列尔比 S：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有像差 PSF 的峰值强度 / 无像差时的峰值强度。</a:t>
            </a:r>
          </a:p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1B2A4A"/>
                </a:solidFill>
                <a:latin typeface="Cambria Math"/>
                <a:ea typeface="Cambria Math"/>
                <a:cs typeface="Cambria Math"/>
              </a:rPr>
              <a:t>S = | ⟨ exp(iΦ) ⟩ |²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小像差近似（Maréchal）：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450" b="1" i="0">
                <a:solidFill>
                  <a:srgbClr val="1B2A4A"/>
                </a:solidFill>
                <a:latin typeface="Cambria Math"/>
                <a:ea typeface="Cambria Math"/>
                <a:cs typeface="Cambria Math"/>
              </a:rPr>
              <a:t>S ≈ exp[ −(2πσ_W)² ] ≈ 1 − (2πσ_W)²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Maréchal 判据（衍射极限）：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50" b="1" i="0">
                <a:solidFill>
                  <a:srgbClr val="2E8B57"/>
                </a:solidFill>
                <a:latin typeface="Cambria Math"/>
                <a:ea typeface="Cambria Math"/>
                <a:cs typeface="Cambria Math"/>
              </a:rPr>
              <a:t>S ≥ 0.8  ⟺  RMS 波像差 σ_W ≤ λ/14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即：只要 RMS 波前误差不超过约 λ/14，系统就可视为“衍射极限”成像。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第一部分 · 基本原理 (9/10)  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光学传递函数 (MTF)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7" name="Picture 6" descr="06_m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84315"/>
            <a:ext cx="6583680" cy="39465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52160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自绘：无像差 vs 含彗差/球差时的 MTF 曲线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463040"/>
            <a:ext cx="448056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OTF = 光瞳函数的自相关；MTF = |OTF|。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MTF(ν) 描述系统对不同空间频率 ν 的对比度传递能力。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无像差（衍射极限）MTF：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1B2A4A"/>
                </a:solidFill>
                <a:latin typeface="Cambria Math"/>
                <a:ea typeface="Cambria Math"/>
                <a:cs typeface="Cambria Math"/>
              </a:rPr>
              <a:t>(2/π)[ arccos(ν) − ν√(1−ν²) ]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像差的作用：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中、高频对比度下降 → 图像“变糊”、细节丢失；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截止频率 ν_c 不变，但曲线整体被压低。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PSF 与 MTF 互为傅里叶变换——同一信息的两种视角。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第一部分 · 基本原理 (10/10)  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扩展 Nijboer–Zernike (ENZ) 理论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7" name="Picture 6" descr="08_through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9792"/>
            <a:ext cx="11247120" cy="29411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38912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自绘：含球差时通过焦点的 PSF 演化——ENZ 可解析描述并用于像差反演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00600"/>
            <a:ext cx="1088136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Janssen, Braat 等 (2002 起)：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把经典 N–Z 理论从“小像差、无离焦”推广到现代实用场景：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① 任意大小的像差与离焦；② 复光瞳函数（同时含相位 + 振幅/透过率变化）；③ 高数值孔径下的矢量衍射。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关键价值：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用 Bessel 级数 Vₙᵐ(r,f) 高效、精确地计算 PSF，并可求解</a:t>
            </a:r>
            <a:r>
              <a:rPr sz="13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反问题——从实测的通过焦点强度图像反演出复光瞳（像差）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。这正是文献 A、B 的共同根基。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64592" cy="1920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377440"/>
            <a:ext cx="1005840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0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前沿文献调研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 i="0">
                <a:solidFill>
                  <a:srgbClr val="DDE4F0"/>
                </a:solidFill>
                <a:latin typeface="Microsoft YaHei"/>
                <a:ea typeface="Microsoft YaHei"/>
                <a:cs typeface="Microsoft YaHei"/>
              </a:rPr>
              <a:t>两篇近年文献，分别展示经典衍射像差理论在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空间引力波探测</a:t>
            </a:r>
            <a:r>
              <a:rPr sz="1700" b="0" i="0">
                <a:solidFill>
                  <a:srgbClr val="DDE4F0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人工智能像差反演</a:t>
            </a:r>
            <a:r>
              <a:rPr sz="1700" b="0" i="0">
                <a:solidFill>
                  <a:srgbClr val="DDE4F0"/>
                </a:solidFill>
                <a:latin typeface="Microsoft YaHei"/>
                <a:ea typeface="Microsoft YaHei"/>
                <a:cs typeface="Microsoft YaHei"/>
              </a:rPr>
              <a:t> 中的最新应用。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前沿文献 ①  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 A · 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881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Analytical Modeling of Far-Field Wavefront Error with Beam-Waist and Lateral-Shift Effects in Spaceborne Laser Interferometry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Ya-Zheng Tao, Rui-Hong Gao, Guangzhou Xu, Yue-Liang Wu — arXiv:2604.26371 (2026), CC BY 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088136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研究背景：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空间引力波探测（如 LISA / 太极 Taiji）卫星间相距数百万公里，靠激光干涉测距，精度需达皮米 (pm) 量级。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核心问题——TTL 噪声：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远场波前误差 (WFE) 与激光指向抖动耦合，产生“倾斜-平移”(tilt-to-length) 噪声，是主要误差源之一。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本文做法：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把经典 Nijboer–Zernike 模型 </a:t>
            </a: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到截断高斯光束的远场 WFE，引入两个实用初始参数：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1B2A4A"/>
                </a:solidFill>
                <a:latin typeface="Cambria Math"/>
                <a:ea typeface="Cambria Math"/>
                <a:cs typeface="Cambria Math"/>
              </a:rPr>
              <a:t>   • 束腰/孔径比  q = w₀ / rₐ   （光束截断程度）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1B2A4A"/>
                </a:solidFill>
                <a:latin typeface="Cambria Math"/>
                <a:ea typeface="Cambria Math"/>
                <a:cs typeface="Cambria Math"/>
              </a:rPr>
              <a:t>   • 归一化横向光斑偏移比  s_r           （对准误差）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意义：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说明 80 年前的衍射像差理论，如今仍是空间引力波探测光学设计的解析工具。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前沿文献 ①  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 A · 束腰/孔径比 q 的影响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7" name="Picture 6" descr="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7000"/>
            <a:ext cx="5486400" cy="35039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原文 Fig.2：远端接收功率随 q 变化，峰值在 q≈0.892</a:t>
            </a:r>
          </a:p>
        </p:txBody>
      </p:sp>
      <p:pic>
        <p:nvPicPr>
          <p:cNvPr id="9" name="Picture 8" descr="x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8706"/>
            <a:ext cx="5486400" cy="31005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48920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原文 Fig.3：若干偶数阶 Zernike 项对远场 WFE 的一阶贡献随 q 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108813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• 接收功率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在 q≈0.89 处最大——这是传统上选择束腰大小的依据；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• 但作者指出：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适当减小 q 还能降低远场 WFE。蒙特卡洛模拟显示 q 由 1→0.9、0.9→0.8 分别使平均 WFE 降低约 10% 与 14%。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 给出了“功率—波前误差”之间的权衡，为束参数优化提供解析依据。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前沿文献 ①  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 A · 蒙特卡洛验证与结论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7" name="Picture 6" descr="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38778"/>
            <a:ext cx="6949440" cy="35975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349240"/>
            <a:ext cx="6949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原文 Fig.5：随机初始像差下，不同 q 的远场 WFE 蒙特卡洛对比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463040"/>
            <a:ext cx="4023360" cy="4754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主要结论：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① 减小 q 在牺牲少量功率的同时显著降低 WFE，存在最优折中。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② 横向光斑偏移：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太极望远镜入瞳偏移 2 μm（s_r=0.001）对应相位耦合系数约 0.0892 pm/nrad，接近 0.1 pm/nrad 的 TTL 指标。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③ 偏移—像差的交叉耦合项很小，工程容差估计中可忽略。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启示：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经典衍射像差理论 + Zernike 展开，为未来空间引力波任务的光学容差设计提供了解析框架。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前沿文献 ②  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 B · 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881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Direct Zernike Coefficient Prediction from Point Spread Functions and Extended Images using Deep Learning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Y. E. Kok, A. Bentley, A. Parkes, A. J. Wright, M. G. Somekh, M. Pound (Univ. of Nottingham) — arXiv:2404.15231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088136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研究背景：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荧光显微等成像中，系统与样品引入的像差会严重降低分辨率。传统自适应光学 (AO) 依赖波前传感器 + 变形镜，并需迭代搜索，速度慢、硬件复杂。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本文做法：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用卷积神经网络 (ResNet-50)，从 2~3 张 </a:t>
            </a: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相位差异 (phase-diverse)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 图像——即焦面上、下、在焦三个位置的 PSF——</a:t>
            </a: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直接预测前 25 项 Zernike 系数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与经典理论的联系：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这正是 (E)NZ 反问题——“由通过焦点的 PSF 反演光瞳像差”——的数据驱动版本；网络学到的，是 像差(Zernike) ↔ 衍射 PSF 之间的映射。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结果：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在 60 万张仿真 PSF 上，3 通道输入达到 RMS≈0.10 rad；推广到 2D 扩展样品仍约 0.15 rad，且只需 1 次（或少数几次迭代）即可校正。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前沿文献 ②  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 B · 相位差异输入与网络框架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7" name="Picture 6" descr="psfSNegativeDe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0252"/>
            <a:ext cx="1828800" cy="17943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29184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负离焦 I₋₁</a:t>
            </a:r>
          </a:p>
        </p:txBody>
      </p:sp>
      <p:pic>
        <p:nvPicPr>
          <p:cNvPr id="9" name="Picture 8" descr="psfSAtFoc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480252"/>
            <a:ext cx="1828800" cy="17943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14600" y="329184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在焦 I₀</a:t>
            </a:r>
          </a:p>
        </p:txBody>
      </p:sp>
      <p:pic>
        <p:nvPicPr>
          <p:cNvPr id="11" name="Picture 10" descr="psfSPositiveFoc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480252"/>
            <a:ext cx="1828800" cy="17943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80560" y="329184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正离焦 I₊₁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60350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原文 Fig.1：同一像差下，焦面上/下/在焦三张 PSF（提供相位差异信息）</a:t>
            </a:r>
          </a:p>
        </p:txBody>
      </p:sp>
      <p:pic>
        <p:nvPicPr>
          <p:cNvPr id="14" name="Picture 13" descr="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009723"/>
            <a:ext cx="5120640" cy="128407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361188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原文 Fig.3：ResNet-50 由 n 张相位差异图像直接回归 Zernike 系数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• 为什么要“相位差异”？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单张在焦 PSF 难以区分正/负号像差；加入离焦图像后，像差符号与大小被唯一编码，反演不再奇异。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• 输入：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3 通道（−1, 0, +1 离焦）PSF；   </a:t>
            </a:r>
            <a:r>
              <a:rPr sz="135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输出：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25 个 Zernike 系数（单位 rad）。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物理本质：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用神经网络逼近 (E)NZ 反演算子，把昂贵的迭代优化替换为一次前向推理。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前沿文献 ②  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 B · 校正效果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7" name="Picture 6" descr="r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554480"/>
            <a:ext cx="237744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3931920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理想 (Ground truth)</a:t>
            </a:r>
          </a:p>
        </p:txBody>
      </p:sp>
      <p:pic>
        <p:nvPicPr>
          <p:cNvPr id="9" name="Picture 8" descr="r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554480"/>
            <a:ext cx="2377440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40480" y="3931920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含像差 (Aberrated)</a:t>
            </a:r>
          </a:p>
        </p:txBody>
      </p:sp>
      <p:pic>
        <p:nvPicPr>
          <p:cNvPr id="11" name="Picture 10" descr="r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554480"/>
            <a:ext cx="2377440" cy="2377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0" y="3931920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校正后 (Corrected)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原文 Fig.4（PSF 数据集示例）：网络预测 Zernike 后重建/去除像差，PSF 基本恢复为艾里斑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1088136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• 仿真 PSF：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3 张相位差异图像，离焦幅度=1 时 RMS≈0.10 rad；2 通道亦可，3 通道更稳。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• 扩展 2D 样品：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不再是点源，网络仍能直接预测 Zernike，RMS≈0.15 rad；可迭代 2~3 次进一步提升。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价值：</a:t>
            </a: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无需波前传感器、单步推理即可像差反演 → 离线“数字自适应光学”与超分辨成像的快速路径。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FC6E6"/>
                </a:solidFill>
                <a:latin typeface="Microsoft YaHei"/>
                <a:ea typeface="Microsoft YaHei"/>
                <a:cs typeface="Microsoft YaHei"/>
              </a:rPr>
              <a:t>第三部分  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7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一条主线：</a:t>
            </a:r>
            <a:r>
              <a:rPr sz="15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波像差 W  →  光瞳相位 Φ  →  衍射积分  →  PSF / MTF  →  系统评价与反演。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1F6FB4"/>
                </a:solidFill>
                <a:latin typeface="Microsoft YaHei"/>
                <a:ea typeface="Microsoft YaHei"/>
                <a:cs typeface="Microsoft YaHei"/>
              </a:rPr>
              <a:t>基本原理小结：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用 Zernike 多项式正交展开像差；Nijboer–Zernike 给出逐项解析 PSF（贝塞尔函数）。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Strehl 比 / Maréchal 判据 (S≥0.8 ⟺ σ_W≤λ/14) 给出“衍射极限”的定量标准。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• 扩展 Nijboer–Zernike (ENZ) 把理论推广到大像差、离焦、复光瞳与高 NA 矢量衍射，并支持像差反演。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前沿启示：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① 经典理论“活着”：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N–Z 模型被扩展用于空间引力波探测的远场波前误差与 TTL 噪声解析建模（文献 A）。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4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② 与 AI 融合：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深度网络学习 “PSF↔Zernike” 映射，把 (E)NZ 反问题变为一次前向推理，实现快速无传感器像差校正（文献 B）。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486400"/>
            <a:ext cx="10881360" cy="6858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32120"/>
            <a:ext cx="104241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一句话：</a:t>
            </a:r>
            <a:r>
              <a:rPr sz="140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像差的衍射理论既是百年经典，又在计算成像与人工智能时代焕发新生。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参考文献 /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《光学原理》课程报告 · 像差的衍射理论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[1] M. Born &amp; E. Wolf, Principles of Optics, Ch. 9 “The Diffraction Theory of Aberrations”, Cambridge Univ. Press.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[2] B. R. A. Nijboer, “The diffraction theory of optical aberrations,” Physica 10 (1943) 679; 13 (1947) 605.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[3] A. J. E. M. Janssen, “Extended Nijboer–Zernike approach to the computation of optical point-spread functions,” J. Opt. Soc. Am. A 19, 849 (2002); J. Braat et al., JOSA A 19, 858 (2002).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[4] Y.-Z. Tao, R.-H. Gao, G. Xu, Y.-L. Wu, “Analytical Modeling of Far-Field Wavefront Error with Beam-Waist and Lateral-Shift Effects in Spaceborne Laser Interferometry,” arXiv:2604.26371 (2026). [CC BY 4.0]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0" i="0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[5] Y. E. Kok, A. Bentley, A. Parkes, A. J. Wright, M. G. Somekh, M. Pound, “Direct Zernike Coefficient Prediction from Point Spread Functions and Extended Images using Deep Learning,” arXiv:2404.15231 (2024).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图片说明：</a:t>
            </a:r>
            <a:r>
              <a:rPr sz="12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第一部分插图由本人用 Python (NumPy/SciPy/Matplotlib) 依据上述理论计算自绘；第二部分插图截取自对应文献 [4][5]（arXiv 公开预印本，仅用于课程学习，已标注来源）。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