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82880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82880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82880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82880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82880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82880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82880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82880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82880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82880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82880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82880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82880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82880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82880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82880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82880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82880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82880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82880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82880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82880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82880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82880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82880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82880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82880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82880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82880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82880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82880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82880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82880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82880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82880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82880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82880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82880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82880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82880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82880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82880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82880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82880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82880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82880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82880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82880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675120"/>
            <a:ext cx="253994" cy="182880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3993" y="6675120"/>
            <a:ext cx="253994" cy="182880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7986" y="6675120"/>
            <a:ext cx="253994" cy="182880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1979" y="6675120"/>
            <a:ext cx="253994" cy="182880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5972" y="6675120"/>
            <a:ext cx="253994" cy="182880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69965" y="6675120"/>
            <a:ext cx="253994" cy="182880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23958" y="6675120"/>
            <a:ext cx="253994" cy="182880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77951" y="6675120"/>
            <a:ext cx="253994" cy="182880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31944" y="6675120"/>
            <a:ext cx="253994" cy="182880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85937" y="6675120"/>
            <a:ext cx="253994" cy="182880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39930" y="6675120"/>
            <a:ext cx="253994" cy="182880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93923" y="6675120"/>
            <a:ext cx="253994" cy="182880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7916" y="6675120"/>
            <a:ext cx="253994" cy="182880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01909" y="6675120"/>
            <a:ext cx="253994" cy="182880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55902" y="6675120"/>
            <a:ext cx="253994" cy="182880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09895" y="6675120"/>
            <a:ext cx="253994" cy="182880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63888" y="6675120"/>
            <a:ext cx="253994" cy="182880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17881" y="6675120"/>
            <a:ext cx="253994" cy="182880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1874" y="6675120"/>
            <a:ext cx="253994" cy="182880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25867" y="6675120"/>
            <a:ext cx="253994" cy="182880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79860" y="6675120"/>
            <a:ext cx="253994" cy="182880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33853" y="6675120"/>
            <a:ext cx="253994" cy="182880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87846" y="6675120"/>
            <a:ext cx="253994" cy="182880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41839" y="6675120"/>
            <a:ext cx="253994" cy="182880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95832" y="6675120"/>
            <a:ext cx="253994" cy="182880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49825" y="6675120"/>
            <a:ext cx="253994" cy="182880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03818" y="6675120"/>
            <a:ext cx="253994" cy="182880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7811" y="6675120"/>
            <a:ext cx="253994" cy="182880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11804" y="6675120"/>
            <a:ext cx="253994" cy="182880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65797" y="6675120"/>
            <a:ext cx="253994" cy="182880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19790" y="6675120"/>
            <a:ext cx="253994" cy="182880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73783" y="6675120"/>
            <a:ext cx="253994" cy="182880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27776" y="6675120"/>
            <a:ext cx="253994" cy="182880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81769" y="6675120"/>
            <a:ext cx="253994" cy="182880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635762" y="6675120"/>
            <a:ext cx="253994" cy="182880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89755" y="6675120"/>
            <a:ext cx="253994" cy="182880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43748" y="6675120"/>
            <a:ext cx="253994" cy="182880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97741" y="6675120"/>
            <a:ext cx="253994" cy="182880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51734" y="6675120"/>
            <a:ext cx="253994" cy="182880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905727" y="6675120"/>
            <a:ext cx="253994" cy="182880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59720" y="6675120"/>
            <a:ext cx="253994" cy="182880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13713" y="6675120"/>
            <a:ext cx="253994" cy="182880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667706" y="6675120"/>
            <a:ext cx="253994" cy="182880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921699" y="6675120"/>
            <a:ext cx="253994" cy="182880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175692" y="6675120"/>
            <a:ext cx="253994" cy="182880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429685" y="6675120"/>
            <a:ext cx="253994" cy="182880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683678" y="6675120"/>
            <a:ext cx="253994" cy="182880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937671" y="6675120"/>
            <a:ext cx="253994" cy="182880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400800" y="320040"/>
            <a:ext cx="6217920" cy="6217920"/>
          </a:xfrm>
          <a:prstGeom prst="ellipse">
            <a:avLst/>
          </a:prstGeom>
          <a:noFill/>
          <a:ln w="20320">
            <a:solidFill>
              <a:srgbClr val="5B3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040880" y="960119"/>
            <a:ext cx="4937760" cy="4937760"/>
          </a:xfrm>
          <a:prstGeom prst="ellipse">
            <a:avLst/>
          </a:prstGeom>
          <a:noFill/>
          <a:ln w="20320">
            <a:solidFill>
              <a:srgbClr val="395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680960" y="1600200"/>
            <a:ext cx="3657600" cy="3657600"/>
          </a:xfrm>
          <a:prstGeom prst="ellipse">
            <a:avLst/>
          </a:prstGeom>
          <a:noFill/>
          <a:ln w="20320">
            <a:solidFill>
              <a:srgbClr val="208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275320" y="2194560"/>
            <a:ext cx="2468880" cy="2468880"/>
          </a:xfrm>
          <a:prstGeom prst="ellipse">
            <a:avLst/>
          </a:prstGeom>
          <a:noFill/>
          <a:ln w="20320">
            <a:solidFill>
              <a:srgbClr val="1BA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778240" y="2697480"/>
            <a:ext cx="1463040" cy="1463040"/>
          </a:xfrm>
          <a:prstGeom prst="ellipse">
            <a:avLst/>
          </a:prstGeom>
          <a:noFill/>
          <a:ln w="20320">
            <a:solidFill>
              <a:srgbClr val="36C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60" y="10972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9C4E8"/>
                </a:solidFill>
                <a:latin typeface="微软雅黑"/>
                <a:ea typeface="微软雅黑"/>
                <a:cs typeface="微软雅黑"/>
              </a:rPr>
              <a:t>《光学原理》 · 课程文献汇报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18288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像差的衍射理论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9FB4E8"/>
                </a:solidFill>
                <a:latin typeface="微软雅黑"/>
                <a:ea typeface="微软雅黑"/>
                <a:cs typeface="微软雅黑"/>
              </a:rPr>
              <a:t>The Diffraction Theory of Aberrations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D2EC"/>
                </a:solidFill>
                <a:latin typeface="微软雅黑"/>
                <a:ea typeface="微软雅黑"/>
                <a:cs typeface="微软雅黑"/>
              </a:rPr>
              <a:t>从波像差函数、泽尼克多项式与点扩散函数，
到 AI 驱动的波前传感与像差校正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461772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EB8DB"/>
                </a:solidFill>
                <a:latin typeface="微软雅黑"/>
                <a:ea typeface="微软雅黑"/>
                <a:cs typeface="微软雅黑"/>
              </a:rPr>
              <a:t>知识点出处：像差的衍射理论（波像差 / 泽尼克 / PSF / 斯特列尔比 / 容差）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文献一  从 PSF 直接预测泽尼克像差系数（深度学习）｜ arXiv, 2024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文献二  物理信息图神经网络的频域像差校正 ｜ arXiv, 2025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9BC4"/>
                </a:solidFill>
                <a:latin typeface="微软雅黑"/>
                <a:ea typeface="微软雅黑"/>
                <a:cs typeface="微软雅黑"/>
              </a:rPr>
              <a:t>汇报人：________     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OUTLINE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83080"/>
            <a:ext cx="868680" cy="777240"/>
          </a:xfrm>
          <a:prstGeom prst="round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178308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1640" y="1819656"/>
            <a:ext cx="9784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课本知识点回顾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波像差函数、泽尼克多项式、PSF、斯特列尔比与容差理论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2679192"/>
            <a:ext cx="868680" cy="777240"/>
          </a:xfrm>
          <a:prstGeom prst="round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2679192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1640" y="2715768"/>
            <a:ext cx="9784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选题逻辑：正问题 vs 反问题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课本算“像差→衍射像”；前沿反推“衍射像→像差”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3575304"/>
            <a:ext cx="868680" cy="777240"/>
          </a:xfrm>
          <a:prstGeom prst="round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3575304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91640" y="3611880"/>
            <a:ext cx="9784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文献一：从 PSF 预测泽尼克系数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深度学习直接读出像差——“感知像差”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471416"/>
            <a:ext cx="868680" cy="777240"/>
          </a:xfrm>
          <a:prstGeom prst="roundRect">
            <a:avLst/>
          </a:prstGeom>
          <a:solidFill>
            <a:srgbClr val="2C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471416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4507992"/>
            <a:ext cx="9784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文献二：物理信息网络校正像差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把衍射-像差物理模型嵌入网络——“校正像差”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367528"/>
            <a:ext cx="868680" cy="777240"/>
          </a:xfrm>
          <a:prstGeom prst="round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5367528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1640" y="5404104"/>
            <a:ext cx="9784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对比 · 总结 · 启示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经典衍射理论如何成为 AI 时代的语言与先验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01 · 课本知识点回顾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像差的衍射理论：波像差如何决定衍射像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2920" y="1645920"/>
            <a:ext cx="5532120" cy="457200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1645920"/>
            <a:ext cx="553212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1920240"/>
            <a:ext cx="5074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教材中的核心框架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波像差函数 W(ρ,θ)：实际波前相对理想球面波前的光程差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衍射像 = 出瞳函数的夫琅禾费衍射（衍射积分）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    –  </a:t>
            </a: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     PSF = | F { P(ρ,θ)·e^( i k W ) } |²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泽尼克多项式 Zₙᵐ：单位圆上正交基，分解像差（离焦/像散/彗差/球差…）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斯特列尔比 S：像差使焦点峰值强度下降的程度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    –  </a:t>
            </a: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     S ≈ 1 − (2π/λ)²·σ_W²  （马雷夏尔近似）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D94A4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容差理论：瑞利 λ/4 判据；马雷夏尔判据 σ_W ≤ λ/14 → S ≳ 0.8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1645920"/>
            <a:ext cx="5440680" cy="228600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正问题：已知像差 W → 算出衍射像 PSF</a:t>
            </a:r>
          </a:p>
        </p:txBody>
      </p:sp>
      <p:sp>
        <p:nvSpPr>
          <p:cNvPr id="61" name="Oval 60"/>
          <p:cNvSpPr/>
          <p:nvPr/>
        </p:nvSpPr>
        <p:spPr>
          <a:xfrm>
            <a:off x="6537960" y="2423160"/>
            <a:ext cx="1143000" cy="1143000"/>
          </a:xfrm>
          <a:prstGeom prst="ellipse">
            <a:avLst/>
          </a:prstGeom>
          <a:solidFill>
            <a:srgbClr val="CED9F2"/>
          </a:solidFill>
          <a:ln w="15240">
            <a:solidFill>
              <a:srgbClr val="151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7960" y="361188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出瞳 P·e^(ikW)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7863840" y="2788920"/>
            <a:ext cx="1234440" cy="411480"/>
          </a:xfrm>
          <a:prstGeom prst="rightArrow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18120" y="24323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衍射</a:t>
            </a:r>
          </a:p>
        </p:txBody>
      </p:sp>
      <p:sp>
        <p:nvSpPr>
          <p:cNvPr id="65" name="Oval 64"/>
          <p:cNvSpPr/>
          <p:nvPr/>
        </p:nvSpPr>
        <p:spPr>
          <a:xfrm>
            <a:off x="9445752" y="2432304"/>
            <a:ext cx="1133856" cy="1133856"/>
          </a:xfrm>
          <a:prstGeom prst="ellipse">
            <a:avLst/>
          </a:prstGeom>
          <a:noFill/>
          <a:ln w="17780">
            <a:solidFill>
              <a:srgbClr val="5B3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28632" y="2615184"/>
            <a:ext cx="768096" cy="768096"/>
          </a:xfrm>
          <a:prstGeom prst="ellipse">
            <a:avLst/>
          </a:prstGeom>
          <a:noFill/>
          <a:ln w="17780">
            <a:solidFill>
              <a:srgbClr val="208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93224" y="2779776"/>
            <a:ext cx="438912" cy="438912"/>
          </a:xfrm>
          <a:prstGeom prst="ellipse">
            <a:avLst/>
          </a:prstGeom>
          <a:noFill/>
          <a:ln w="17780">
            <a:solidFill>
              <a:srgbClr val="36C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0" y="36118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PSF 衍射像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4069080"/>
            <a:ext cx="5440680" cy="214884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0" y="4069080"/>
            <a:ext cx="5440680" cy="109728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4343400"/>
            <a:ext cx="49834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教材“老”在哪里？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课本以解析推导“正问题”为主：给定像差，预测衍射像与分辨率下降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现实更想解“反问题”：从观测到的衍射像/模糊像，反推并校正像差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近两年 AI 让这一反演又快又准——下面两篇文献正是代表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02 · 选题逻辑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同一套衍射理论：正问题（课本） vs 反问题（前沿）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像差的衍射理论给出“像差 W → 衍射像 PSF”的正向映射；现代研究关心它的反演——从衍射像反推、并校正像差。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2286000"/>
            <a:ext cx="10972800" cy="123444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2286000"/>
            <a:ext cx="128016" cy="123444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239572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正问题
（课本）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2542032"/>
            <a:ext cx="24688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25420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像差 W
(泽尼克系数)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5852160" y="2697480"/>
            <a:ext cx="1280160" cy="420624"/>
          </a:xfrm>
          <a:prstGeom prst="rightArrow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23317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衍射积分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0" y="2542032"/>
            <a:ext cx="24688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25420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衍射像 PSF
(分辨率下降)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3657600"/>
            <a:ext cx="10972800" cy="123444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" y="3657600"/>
            <a:ext cx="128016" cy="1234440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3767328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反问题
（前沿）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00400" y="3913632"/>
            <a:ext cx="24688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39136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衍射像 / 模糊像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5852160" y="4069080"/>
            <a:ext cx="1280160" cy="420624"/>
          </a:xfrm>
          <a:prstGeom prst="rightArrow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15000" y="3703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AI 反演/校正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0" y="3913632"/>
            <a:ext cx="24688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0" y="39136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像差 W → 校正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074920"/>
            <a:ext cx="5394960" cy="1143000"/>
          </a:xfrm>
          <a:prstGeom prst="round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" y="5074920"/>
            <a:ext cx="539496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" y="534924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文献一 · 感知像差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用 CNN 从 PSF 直接读出泽尼克系数（反演正问题）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5074920"/>
            <a:ext cx="5394960" cy="114300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17920" y="5074920"/>
            <a:ext cx="5394960" cy="109728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534924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文献二 · 校正像差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把衍射-像差物理模型作先验，校正显微像差（频域）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03 · 文献一 / 背景与问题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从衍射像直接“读出”像差：感知像差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600200"/>
            <a:ext cx="10972800" cy="960120"/>
          </a:xfrm>
          <a:prstGeom prst="round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1700784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Direct Zernike Coefficient Prediction from Point Spread Functions and Extended Images using Deep Learning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2EC"/>
                </a:solidFill>
                <a:latin typeface="微软雅黑"/>
                <a:ea typeface="微软雅黑"/>
                <a:cs typeface="微软雅黑"/>
              </a:rPr>
              <a:t>arXiv:2404.15231 (2024) · 关键词：泽尼克系数 / PSF / 相位分集 / 卷积神经网络 / 自适应光学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2788920"/>
            <a:ext cx="5349240" cy="333756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2788920"/>
            <a:ext cx="53492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3063240"/>
            <a:ext cx="48920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问题背景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像差会严重退化成像质量，需要先“测出”像差才能校正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传统自适应光学多靠迭代搜索来逼近最佳校正，速度慢、易陷局部最优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波前传感器件复杂；能否直接“看图识像差”？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788920"/>
            <a:ext cx="5349240" cy="333756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2788920"/>
            <a:ext cx="5349240" cy="109728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063240"/>
            <a:ext cx="48920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核心思路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把“PSF → 泽尼克像差系数”当作一个回归/反演问题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用卷积神经网络(CNN)直接预测泽尼克系数，取代迭代搜索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借助“相位分集”：拍焦面上方/焦面/下方多张图，提供深度信息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03 · 文献一 / 方法与创新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CNN + 相位分集，直接回归泽尼克系数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691640"/>
            <a:ext cx="5349240" cy="4526280"/>
          </a:xfrm>
          <a:prstGeom prst="round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1965960"/>
            <a:ext cx="489204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核心方法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输入：2–3 张相位分集图像（焦面下方 / 焦面 / 上方）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网络：卷积神经网络 (CNN) 提取特征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输出：直接回归出一组泽尼克系数 → 即完整波像差 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无需迭代搜索，一次前向推理即得像差估计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对“点源 PSF”和“扩展物体图像”都适用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1691640"/>
            <a:ext cx="5394960" cy="23317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1691640"/>
            <a:ext cx="5394960" cy="109728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1965960"/>
            <a:ext cx="49377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为什么要“相位分集”？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只用单张焦面 PSF，正负离焦等情形会混淆（解不唯一）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额外加入已知离焦量（离焦本身就是一个泽尼克模式 Z₂⁰）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多张分集图像 → 反演更稳定、更准确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4206240"/>
            <a:ext cx="1600200" cy="128016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97980" y="4160520"/>
            <a:ext cx="914400" cy="914400"/>
          </a:xfrm>
          <a:prstGeom prst="ellipse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138928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焦面下方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56448" y="4206240"/>
            <a:ext cx="1600200" cy="128016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00516" y="4361688"/>
            <a:ext cx="512064" cy="512064"/>
          </a:xfrm>
          <a:prstGeom prst="ellipse">
            <a:avLst/>
          </a:prstGeom>
          <a:solidFill>
            <a:srgbClr val="208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56448" y="5138928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焦面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57816" y="4206240"/>
            <a:ext cx="1600200" cy="128016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300716" y="4160520"/>
            <a:ext cx="914400" cy="914400"/>
          </a:xfrm>
          <a:prstGeom prst="ellipse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57816" y="5138928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焦面上方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03 · 文献一 / 结果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三张分集图像即可高精度反演像差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37360"/>
            <a:ext cx="3566160" cy="182880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737360"/>
            <a:ext cx="356616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0.10 rad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波前 RMSE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3 张分集 PSF（振幅 1）在仿真集上的均方根误差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43400" y="1737360"/>
            <a:ext cx="3566160" cy="182880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1737360"/>
            <a:ext cx="3566160" cy="109728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2–3 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所需图像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仅用焦面附近少量图像即可完成反演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1737360"/>
            <a:ext cx="3566160" cy="182880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46720" y="1737360"/>
            <a:ext cx="3566160" cy="109728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1965960"/>
            <a:ext cx="3200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一次推理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无需迭代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CNN 前向一次即出像差，远快于迭代搜索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3886200"/>
            <a:ext cx="10972800" cy="2331720"/>
          </a:xfrm>
          <a:prstGeom prst="round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" y="3886200"/>
            <a:ext cx="10972800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4160520"/>
            <a:ext cx="105156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结论与意义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用焦面上方/焦面/下方 3 张相位分集图像，在仿真 PSF 数据集上达到约 0.10 弧度的低波前 RMSE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直接回归泽尼克系数，省去传统自适应光学的迭代搜索，更快、更直接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5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对点源与扩展物体均可用，为快速波前传感、实时像差校正提供新路径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03 · 文献一 / 与课本知识点的联系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课本概念 → 前沿研究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8308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783080"/>
            <a:ext cx="128016" cy="96012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178308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PSF = |F{P·e^(ikW)}|²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212080" y="2075688"/>
            <a:ext cx="731520" cy="365760"/>
          </a:xfrm>
          <a:prstGeom prst="right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80760" y="1783080"/>
            <a:ext cx="5532120" cy="96012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178308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网络学习的正是这条映射的“反函数”：PSF → 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288036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2880360"/>
            <a:ext cx="128016" cy="960120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288036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泽尼克多项式 Zₙᵐ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5212080" y="3172968"/>
            <a:ext cx="731520" cy="365760"/>
          </a:xfrm>
          <a:prstGeom prst="rightArrow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080760" y="2880360"/>
            <a:ext cx="5532120" cy="96012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288036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网络的输出就是泽尼克系数，沿用课本的像差正交基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97764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3977640"/>
            <a:ext cx="128016" cy="960120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397764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离焦是一种像差 (Z₂⁰)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5212080" y="4270248"/>
            <a:ext cx="731520" cy="365760"/>
          </a:xfrm>
          <a:prstGeom prst="rightArrow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080760" y="3977640"/>
            <a:ext cx="5532120" cy="96012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397764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相位分集 = 人为加入已知离焦像差，帮助反演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07492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5074920"/>
            <a:ext cx="128016" cy="960120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507492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波前误差 / 容差理论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5212080" y="5367528"/>
            <a:ext cx="731520" cy="365760"/>
          </a:xfrm>
          <a:prstGeom prst="rightArrow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80760" y="5074920"/>
            <a:ext cx="5532120" cy="960120"/>
          </a:xfrm>
          <a:prstGeom prst="roundRect">
            <a:avLst/>
          </a:prstGeom>
          <a:solidFill>
            <a:srgbClr val="E7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507492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0.10 rad 的 RMSE 直接对应斯特列尔比与马雷夏尔判据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04 · 文献二 / 背景与问题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物理 + AI：在显微成像中校正像差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600200"/>
            <a:ext cx="10972800" cy="960120"/>
          </a:xfrm>
          <a:prstGeom prst="round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1700784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Physics-Informed Graph Neural Networks for Frequency-Aware Optical Aberration Correction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FF3F1"/>
                </a:solidFill>
                <a:latin typeface="微软雅黑"/>
                <a:ea typeface="微软雅黑"/>
                <a:cs typeface="微软雅黑"/>
              </a:rPr>
              <a:t>arXiv:2512.05683 (2025) · 关键词：像差校正 / 泽尼克 / 物理信息神经网络 / 频域(OTF) / 显微成像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2788920"/>
            <a:ext cx="5349240" cy="333756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2788920"/>
            <a:ext cx="5349240" cy="109728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3063240"/>
            <a:ext cx="48920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问题背景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光学像差会显著退化显微成像质量，尤其在“往样品深处成像”时更严重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像差来自光学波前的畸变，可用泽尼克多项式数学描述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纯数据驱动的校正常缺乏物理约束，泛化差、易过拟合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788920"/>
            <a:ext cx="5349240" cy="3337560"/>
          </a:xfrm>
          <a:prstGeom prst="round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2788920"/>
            <a:ext cx="5349240" cy="109728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063240"/>
            <a:ext cx="48920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核心思路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物理信息(Physics-Informed)：把衍射-像差的物理前向模型嵌入网络作先验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频域感知(Frequency-Aware)：不同空间频率受像差影响不同（即 OTF 视角）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951C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5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图神经网络(GNN)：建模各模式/频段间的关联，更有效地校正像差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04 · 文献二 / 方法与创新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把经典衍射理论“写进”网络结构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691640"/>
            <a:ext cx="5349240" cy="452628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691640"/>
            <a:ext cx="5349240" cy="109728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1965960"/>
            <a:ext cx="489204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核心创新点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物理信息先验：以泽尼克展开 + 像差→PSF/OTF 前向模型约束网络输出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频域感知：显式区分不同空间频率成分的退化（高频受像差影响更大）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图神经网络：把像差模式 / 频段建成图节点，建模其相互关系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面向深层显微成像，提升校正的准确性与鲁棒性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1691640"/>
            <a:ext cx="5394960" cy="224028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1691640"/>
            <a:ext cx="5394960" cy="109728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1965960"/>
            <a:ext cx="49377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频域(OTF)视角：像差为何降分辨率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OTF = 出瞳函数的自相关；像差使 OTF 在高频处下降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高频 = 细节；高频被压低 → 图像变模糊、分辨率下降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“频域感知”正是针对不同频率分别校正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114800"/>
            <a:ext cx="5394960" cy="2103120"/>
          </a:xfrm>
          <a:prstGeom prst="round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279392"/>
            <a:ext cx="493776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物理模型  +  神经网络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（衍射理论/泽尼克）   （图神经网络）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= 物理信息网络：更准、更稳、更省数据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04 · 文献二 / 结果与应用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物理信息 + 频域感知带来更优校正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37360"/>
            <a:ext cx="5440680" cy="448056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737360"/>
            <a:ext cx="5440680" cy="109728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011680"/>
            <a:ext cx="4983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主要结果（定性）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相较纯数据驱动方法，引入物理先验后像差校正更准确、更稳定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频域感知设计能更好恢复被像差压低的高频细节 → 分辨率回升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在“深层成像”这类强像差场景下优势更明显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物理约束降低对大规模标注数据的依赖，泛化性更好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1737360"/>
            <a:ext cx="5349240" cy="448056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1737360"/>
            <a:ext cx="5349240" cy="109728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2011680"/>
            <a:ext cx="4892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应用场景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生物显微 / 活体深层成像：穿过组织时的像差校正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超分辨显微：去除像差以逼近衍射极限分辨率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自适应光学的“数字/离线”版本：先估计再后处理校正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天文、视觉科学等同样存在波前像差的成像系统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1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为“物理 + AI”融合的计算成像提供了范式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04 · 文献二 / 与课本知识点的联系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课本概念 → 前沿研究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8308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783080"/>
            <a:ext cx="128016" cy="96012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178308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泽尼克多项式展开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212080" y="2075688"/>
            <a:ext cx="731520" cy="365760"/>
          </a:xfrm>
          <a:prstGeom prst="right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80760" y="1783080"/>
            <a:ext cx="5532120" cy="96012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178308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作为网络的“物理先验”，约束像差的表示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288036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2880360"/>
            <a:ext cx="128016" cy="960120"/>
          </a:xfrm>
          <a:prstGeom prst="rect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288036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光学传递函数 OTF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5212080" y="3172968"/>
            <a:ext cx="731520" cy="365760"/>
          </a:xfrm>
          <a:prstGeom prst="rightArrow">
            <a:avLst/>
          </a:prstGeom>
          <a:solidFill>
            <a:srgbClr val="2E5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080760" y="2880360"/>
            <a:ext cx="5532120" cy="96012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288036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“频域感知”= 针对 OTF 在不同频率的衰减分别校正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97764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3977640"/>
            <a:ext cx="128016" cy="960120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397764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像差 → 分辨率下降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5212080" y="4270248"/>
            <a:ext cx="731520" cy="365760"/>
          </a:xfrm>
          <a:prstGeom prst="rightArrow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080760" y="3977640"/>
            <a:ext cx="5532120" cy="96012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397764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高频被像差压低 → 模糊；校正即恢复高频细节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074920"/>
            <a:ext cx="4480560" cy="96012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5074920"/>
            <a:ext cx="128016" cy="960120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5074920"/>
            <a:ext cx="4114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衍射理论的前向模型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5212080" y="5367528"/>
            <a:ext cx="731520" cy="365760"/>
          </a:xfrm>
          <a:prstGeom prst="rightArrow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80760" y="5074920"/>
            <a:ext cx="5532120" cy="960120"/>
          </a:xfrm>
          <a:prstGeom prst="roundRect">
            <a:avLst/>
          </a:prstGeom>
          <a:solidFill>
            <a:srgbClr val="E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507492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physics-informed = 把 W→PSF/OTF 模型写进网络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05 · 对比与总结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两篇文献：感知像差 与 校正像差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1691640"/>
            <a:ext cx="2651760" cy="548640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16916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对比维度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91840" y="1691640"/>
            <a:ext cx="4480560" cy="54864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0" y="1691640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文献一 · 感知像差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1691640"/>
            <a:ext cx="4480560" cy="548640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1691640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文献二 · 校正像差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2240280"/>
            <a:ext cx="26517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" y="2240280"/>
            <a:ext cx="24323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2240280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01568" y="2240280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从 PSF 反推泽尼克像差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2240280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82128" y="2240280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校正显微图像中的像差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2999232"/>
            <a:ext cx="26517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2999232"/>
            <a:ext cx="24323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对衍射理论的用法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91840" y="2999232"/>
            <a:ext cx="44805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01568" y="2999232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反演正问题 PSF → 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2999232"/>
            <a:ext cx="44805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82128" y="2999232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把 PSF/OTF 物理模型作先验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3758184"/>
            <a:ext cx="26517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9808" y="3758184"/>
            <a:ext cx="24323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主要方法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91840" y="3758184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01568" y="3758184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CNN + 相位分集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3758184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82128" y="3758184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物理信息图神经网络 + 频域感知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4517136"/>
            <a:ext cx="26517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4517136"/>
            <a:ext cx="24323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工作域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91840" y="4517136"/>
            <a:ext cx="44805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01568" y="4517136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空域（PSF / 图像）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4517136"/>
            <a:ext cx="4480560" cy="7589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82128" y="4517136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频域（OTF / 空间频率）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5276088"/>
            <a:ext cx="26517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5276088"/>
            <a:ext cx="24323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典型应用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0" y="5276088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01568" y="5276088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快速波前传感 / 自适应光学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72400" y="5276088"/>
            <a:ext cx="448056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82128" y="5276088"/>
            <a:ext cx="4261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深层显微 / 超分辨 / 数字AO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" y="1691640"/>
            <a:ext cx="10972800" cy="31750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711696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3993" y="6711696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7986" y="6711696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1979" y="6711696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5972" y="6711696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69965" y="6711696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23958" y="6711696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77951" y="6711696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31944" y="6711696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85937" y="6711696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39930" y="6711696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93923" y="6711696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7916" y="6711696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01909" y="6711696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55902" y="6711696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09895" y="6711696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63888" y="6711696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17881" y="6711696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1874" y="6711696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25867" y="6711696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79860" y="6711696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33853" y="6711696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87846" y="6711696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41839" y="6711696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95832" y="6711696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49825" y="6711696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03818" y="6711696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7811" y="6711696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11804" y="6711696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65797" y="6711696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19790" y="6711696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73783" y="6711696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27776" y="6711696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81769" y="6711696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635762" y="6711696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89755" y="6711696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43748" y="6711696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97741" y="6711696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51734" y="6711696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905727" y="6711696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59720" y="6711696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13713" y="6711696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667706" y="6711696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921699" y="6711696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175692" y="6711696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429685" y="6711696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683678" y="6711696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937671" y="6711696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总结与启示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2960" y="1554480"/>
            <a:ext cx="10561320" cy="4297680"/>
          </a:xfrm>
          <a:prstGeom prst="roundRect">
            <a:avLst/>
          </a:prstGeom>
          <a:solidFill>
            <a:srgbClr val="1E2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8720" y="1828800"/>
            <a:ext cx="9875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6C6CC"/>
                </a:solidFill>
                <a:latin typeface="微软雅黑"/>
                <a:ea typeface="微软雅黑"/>
                <a:cs typeface="微软雅黑"/>
              </a:rPr>
              <a:t>1.  像差的衍射理论是“正问题”，前沿热点是它的“反问题”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课本推导 像差 W → 衍射像 PSF；两篇文献则从衍射像反推与校正像差，互为表里。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C8AB1"/>
                </a:solidFill>
                <a:latin typeface="微软雅黑"/>
                <a:ea typeface="微软雅黑"/>
                <a:cs typeface="微软雅黑"/>
              </a:rPr>
              <a:t>2.  泽尼克 / PSF / OTF / 斯特列尔比，是 AI 时代的“通用语言”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现代算法的输入输出与先验，依然建立在这些经典衍射理论工具之上。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B3FA3"/>
                </a:solidFill>
                <a:latin typeface="微软雅黑"/>
                <a:ea typeface="微软雅黑"/>
                <a:cs typeface="微软雅黑"/>
              </a:rPr>
              <a:t>3.  “物理 + AI”是趋势：把衍射理论写进网络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BF0"/>
                </a:solidFill>
                <a:latin typeface="微软雅黑"/>
                <a:ea typeface="微软雅黑"/>
                <a:cs typeface="微软雅黑"/>
              </a:rPr>
              <a:t>     文献一用数据反演、文献二用物理先验约束，越懂衍射理论，越能把 AI 用准、用稳。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B2B2"/>
                </a:solidFill>
                <a:latin typeface="微软雅黑"/>
                <a:ea typeface="微软雅黑"/>
                <a:cs typeface="微软雅黑"/>
              </a:rPr>
              <a:t>一句话：读懂像差的衍射理论，才能在 AI 时代既“看见”像差，又“消除”像差。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4" cy="146304"/>
          </a:xfrm>
          <a:prstGeom prst="rect">
            <a:avLst/>
          </a:prstGeom>
          <a:solidFill>
            <a:srgbClr val="5B3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0"/>
            <a:ext cx="253994" cy="146304"/>
          </a:xfrm>
          <a:prstGeom prst="rect">
            <a:avLst/>
          </a:prstGeom>
          <a:solidFill>
            <a:srgbClr val="584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986" y="0"/>
            <a:ext cx="253994" cy="146304"/>
          </a:xfrm>
          <a:prstGeom prst="rect">
            <a:avLst/>
          </a:prstGeom>
          <a:solidFill>
            <a:srgbClr val="554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79" y="0"/>
            <a:ext cx="253994" cy="146304"/>
          </a:xfrm>
          <a:prstGeom prst="rect">
            <a:avLst/>
          </a:prstGeom>
          <a:solidFill>
            <a:srgbClr val="524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972" y="0"/>
            <a:ext cx="253994" cy="146304"/>
          </a:xfrm>
          <a:prstGeom prst="rect">
            <a:avLst/>
          </a:prstGeom>
          <a:solidFill>
            <a:srgbClr val="504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9965" y="0"/>
            <a:ext cx="253994" cy="146304"/>
          </a:xfrm>
          <a:prstGeom prst="rect">
            <a:avLst/>
          </a:prstGeom>
          <a:solidFill>
            <a:srgbClr val="4D4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3958" y="0"/>
            <a:ext cx="253994" cy="146304"/>
          </a:xfrm>
          <a:prstGeom prst="rect">
            <a:avLst/>
          </a:prstGeom>
          <a:solidFill>
            <a:srgbClr val="4A4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951" y="0"/>
            <a:ext cx="253994" cy="146304"/>
          </a:xfrm>
          <a:prstGeom prst="rect">
            <a:avLst/>
          </a:prstGeom>
          <a:solidFill>
            <a:srgbClr val="474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1944" y="0"/>
            <a:ext cx="253994" cy="146304"/>
          </a:xfrm>
          <a:prstGeom prst="rect">
            <a:avLst/>
          </a:prstGeom>
          <a:solidFill>
            <a:srgbClr val="444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37" y="0"/>
            <a:ext cx="253994" cy="146304"/>
          </a:xfrm>
          <a:prstGeom prst="rect">
            <a:avLst/>
          </a:prstGeom>
          <a:solidFill>
            <a:srgbClr val="414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9930" y="0"/>
            <a:ext cx="253994" cy="146304"/>
          </a:xfrm>
          <a:prstGeom prst="rect">
            <a:avLst/>
          </a:prstGeom>
          <a:solidFill>
            <a:srgbClr val="3E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923" y="0"/>
            <a:ext cx="253994" cy="146304"/>
          </a:xfrm>
          <a:prstGeom prst="rect">
            <a:avLst/>
          </a:prstGeom>
          <a:solidFill>
            <a:srgbClr val="3B5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16" y="0"/>
            <a:ext cx="253994" cy="146304"/>
          </a:xfrm>
          <a:prstGeom prst="rect">
            <a:avLst/>
          </a:prstGeom>
          <a:solidFill>
            <a:srgbClr val="395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1909" y="0"/>
            <a:ext cx="253994" cy="146304"/>
          </a:xfrm>
          <a:prstGeom prst="rect">
            <a:avLst/>
          </a:prstGeom>
          <a:solidFill>
            <a:srgbClr val="365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02" y="0"/>
            <a:ext cx="253994" cy="146304"/>
          </a:xfrm>
          <a:prstGeom prst="rect">
            <a:avLst/>
          </a:prstGeom>
          <a:solidFill>
            <a:srgbClr val="335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9895" y="0"/>
            <a:ext cx="253994" cy="146304"/>
          </a:xfrm>
          <a:prstGeom prst="rect">
            <a:avLst/>
          </a:prstGeom>
          <a:solidFill>
            <a:srgbClr val="305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3888" y="0"/>
            <a:ext cx="253994" cy="146304"/>
          </a:xfrm>
          <a:prstGeom prst="rect">
            <a:avLst/>
          </a:prstGeom>
          <a:solidFill>
            <a:srgbClr val="2D5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881" y="0"/>
            <a:ext cx="253994" cy="146304"/>
          </a:xfrm>
          <a:prstGeom prst="rect">
            <a:avLst/>
          </a:prstGeom>
          <a:solidFill>
            <a:srgbClr val="2C6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874" y="0"/>
            <a:ext cx="253994" cy="146304"/>
          </a:xfrm>
          <a:prstGeom prst="rect">
            <a:avLst/>
          </a:prstGeom>
          <a:solidFill>
            <a:srgbClr val="2A6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5867" y="0"/>
            <a:ext cx="253994" cy="146304"/>
          </a:xfrm>
          <a:prstGeom prst="rect">
            <a:avLst/>
          </a:prstGeom>
          <a:solidFill>
            <a:srgbClr val="28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9860" y="0"/>
            <a:ext cx="253994" cy="146304"/>
          </a:xfrm>
          <a:prstGeom prst="rect">
            <a:avLst/>
          </a:prstGeom>
          <a:solidFill>
            <a:srgbClr val="266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3853" y="0"/>
            <a:ext cx="253994" cy="146304"/>
          </a:xfrm>
          <a:prstGeom prst="rect">
            <a:avLst/>
          </a:prstGeom>
          <a:solidFill>
            <a:srgbClr val="24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7846" y="0"/>
            <a:ext cx="253994" cy="146304"/>
          </a:xfrm>
          <a:prstGeom prst="rect">
            <a:avLst/>
          </a:prstGeom>
          <a:solidFill>
            <a:srgbClr val="237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41839" y="0"/>
            <a:ext cx="253994" cy="146304"/>
          </a:xfrm>
          <a:prstGeom prst="rect">
            <a:avLst/>
          </a:prstGeom>
          <a:solidFill>
            <a:srgbClr val="21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32" y="0"/>
            <a:ext cx="253994" cy="146304"/>
          </a:xfrm>
          <a:prstGeom prst="rect">
            <a:avLst/>
          </a:prstGeom>
          <a:solidFill>
            <a:srgbClr val="1F8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49825" y="0"/>
            <a:ext cx="253994" cy="146304"/>
          </a:xfrm>
          <a:prstGeom prst="rect">
            <a:avLst/>
          </a:prstGeom>
          <a:solidFill>
            <a:srgbClr val="1D8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3818" y="0"/>
            <a:ext cx="253994" cy="146304"/>
          </a:xfrm>
          <a:prstGeom prst="rect">
            <a:avLst/>
          </a:prstGeom>
          <a:solidFill>
            <a:srgbClr val="1C8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811" y="0"/>
            <a:ext cx="253994" cy="146304"/>
          </a:xfrm>
          <a:prstGeom prst="rect">
            <a:avLst/>
          </a:prstGeom>
          <a:solidFill>
            <a:srgbClr val="1A9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1804" y="0"/>
            <a:ext cx="253994" cy="146304"/>
          </a:xfrm>
          <a:prstGeom prst="rect">
            <a:avLst/>
          </a:prstGeom>
          <a:solidFill>
            <a:srgbClr val="189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5797" y="0"/>
            <a:ext cx="253994" cy="146304"/>
          </a:xfrm>
          <a:prstGeom prst="rect">
            <a:avLst/>
          </a:prstGeom>
          <a:solidFill>
            <a:srgbClr val="169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790" y="0"/>
            <a:ext cx="253994" cy="146304"/>
          </a:xfrm>
          <a:prstGeom prst="rect">
            <a:avLst/>
          </a:prstGeom>
          <a:solidFill>
            <a:srgbClr val="149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3783" y="0"/>
            <a:ext cx="253994" cy="146304"/>
          </a:xfrm>
          <a:prstGeom prst="rect">
            <a:avLst/>
          </a:prstGeom>
          <a:solidFill>
            <a:srgbClr val="13A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76" y="0"/>
            <a:ext cx="253994" cy="146304"/>
          </a:xfrm>
          <a:prstGeom prst="rect">
            <a:avLst/>
          </a:prstGeom>
          <a:solidFill>
            <a:srgbClr val="14A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81769" y="0"/>
            <a:ext cx="253994" cy="146304"/>
          </a:xfrm>
          <a:prstGeom prst="rect">
            <a:avLst/>
          </a:prstGeom>
          <a:solidFill>
            <a:srgbClr val="16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5762" y="0"/>
            <a:ext cx="253994" cy="146304"/>
          </a:xfrm>
          <a:prstGeom prst="rect">
            <a:avLst/>
          </a:prstGeom>
          <a:solidFill>
            <a:srgbClr val="18A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89755" y="0"/>
            <a:ext cx="253994" cy="146304"/>
          </a:xfrm>
          <a:prstGeom prst="rect">
            <a:avLst/>
          </a:prstGeom>
          <a:solidFill>
            <a:srgbClr val="1AA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3748" y="0"/>
            <a:ext cx="253994" cy="146304"/>
          </a:xfrm>
          <a:prstGeom prst="rect">
            <a:avLst/>
          </a:prstGeom>
          <a:solidFill>
            <a:srgbClr val="1DA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7741" y="0"/>
            <a:ext cx="253994" cy="146304"/>
          </a:xfrm>
          <a:prstGeom prst="rect">
            <a:avLst/>
          </a:prstGeom>
          <a:solidFill>
            <a:srgbClr val="1F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1734" y="0"/>
            <a:ext cx="253994" cy="146304"/>
          </a:xfrm>
          <a:prstGeom prst="rect">
            <a:avLst/>
          </a:prstGeom>
          <a:solidFill>
            <a:srgbClr val="21B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05727" y="0"/>
            <a:ext cx="253994" cy="146304"/>
          </a:xfrm>
          <a:prstGeom prst="rect">
            <a:avLst/>
          </a:prstGeom>
          <a:solidFill>
            <a:srgbClr val="24B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9720" y="0"/>
            <a:ext cx="253994" cy="146304"/>
          </a:xfrm>
          <a:prstGeom prst="rect">
            <a:avLst/>
          </a:prstGeom>
          <a:solidFill>
            <a:srgbClr val="26B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3713" y="0"/>
            <a:ext cx="253994" cy="146304"/>
          </a:xfrm>
          <a:prstGeom prst="rect">
            <a:avLst/>
          </a:prstGeom>
          <a:solidFill>
            <a:srgbClr val="28B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67706" y="0"/>
            <a:ext cx="253994" cy="146304"/>
          </a:xfrm>
          <a:prstGeom prst="rect">
            <a:avLst/>
          </a:prstGeom>
          <a:solidFill>
            <a:srgbClr val="2BB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21699" y="0"/>
            <a:ext cx="253994" cy="146304"/>
          </a:xfrm>
          <a:prstGeom prst="rect">
            <a:avLst/>
          </a:prstGeom>
          <a:solidFill>
            <a:srgbClr val="2DB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75692" y="0"/>
            <a:ext cx="253994" cy="146304"/>
          </a:xfrm>
          <a:prstGeom prst="rect">
            <a:avLst/>
          </a:prstGeom>
          <a:solidFill>
            <a:srgbClr val="2F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29685" y="0"/>
            <a:ext cx="253994" cy="146304"/>
          </a:xfrm>
          <a:prstGeom prst="rect">
            <a:avLst/>
          </a:prstGeom>
          <a:solidFill>
            <a:srgbClr val="31C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83678" y="0"/>
            <a:ext cx="253994" cy="146304"/>
          </a:xfrm>
          <a:prstGeom prst="rect">
            <a:avLst/>
          </a:prstGeom>
          <a:solidFill>
            <a:srgbClr val="34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37671" y="0"/>
            <a:ext cx="253994" cy="146304"/>
          </a:xfrm>
          <a:prstGeom prst="rect">
            <a:avLst/>
          </a:prstGeom>
          <a:solidFill>
            <a:srgbClr val="36C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46304"/>
            <a:ext cx="146304" cy="1225296"/>
          </a:xfrm>
          <a:prstGeom prst="rect">
            <a:avLst/>
          </a:prstGeom>
          <a:solidFill>
            <a:srgbClr val="15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74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5BD0"/>
                </a:solidFill>
                <a:latin typeface="微软雅黑"/>
                <a:ea typeface="微软雅黑"/>
                <a:cs typeface="微软雅黑"/>
              </a:rPr>
              <a:t>REFERENCES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参考文献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1389888"/>
            <a:ext cx="11201400" cy="25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1783080"/>
            <a:ext cx="10972800" cy="132588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1783080"/>
            <a:ext cx="128016" cy="132588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19202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[1]  文献一 · 感知像差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Direct Zernike Coefficient Prediction from Point Spread Functions and Extended Images using Deep Learning. arXiv:2404.15231 (2024).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4AB6"/>
                </a:solidFill>
                <a:latin typeface="微软雅黑"/>
                <a:ea typeface="微软雅黑"/>
                <a:cs typeface="微软雅黑"/>
              </a:rPr>
              <a:t>https://arxiv.org/abs/2404.15231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3291840"/>
            <a:ext cx="10972800" cy="132588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3291840"/>
            <a:ext cx="128016" cy="1325880"/>
          </a:xfrm>
          <a:prstGeom prst="rect">
            <a:avLst/>
          </a:prstGeom>
          <a:solidFill>
            <a:srgbClr val="12A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3429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[2]  文献二 · 校正像差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Physics-Informed Graph Neural Networks for Frequency-Aware Optical Aberration Correction. arXiv:2512.05683 (2025).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2A4A0"/>
                </a:solidFill>
                <a:latin typeface="微软雅黑"/>
                <a:ea typeface="微软雅黑"/>
                <a:cs typeface="微软雅黑"/>
              </a:rPr>
              <a:t>https://arxiv.org/abs/2512.05683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4800600"/>
            <a:ext cx="10972800" cy="1325880"/>
          </a:xfrm>
          <a:prstGeom prst="round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4800600"/>
            <a:ext cx="128016" cy="1325880"/>
          </a:xfrm>
          <a:prstGeom prst="rect">
            <a:avLst/>
          </a:prstGeom>
          <a:solidFill>
            <a:srgbClr val="E89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4937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B40"/>
                </a:solidFill>
                <a:latin typeface="微软雅黑"/>
                <a:ea typeface="微软雅黑"/>
                <a:cs typeface="微软雅黑"/>
              </a:rPr>
              <a:t>[3]  课本知识点参考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633"/>
                </a:solidFill>
                <a:latin typeface="微软雅黑"/>
                <a:ea typeface="微软雅黑"/>
                <a:cs typeface="微软雅黑"/>
              </a:rPr>
              <a:t>M. Born &amp; E. Wolf, Principles of Optics（《光学原理》）, Ch. 9 “The Diffraction Theory of Aberrations”：波像差函数、泽尼克多项式、PSF、斯特列尔比与容差理论。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170"/>
                </a:solidFill>
                <a:latin typeface="微软雅黑"/>
                <a:ea typeface="微软雅黑"/>
                <a:cs typeface="微软雅黑"/>
              </a:rPr>
              <a:t>注：文献一、二均为预印本(arXiv)，可按上方链接查阅原文与图表；引用时建议核对最新发表版本。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