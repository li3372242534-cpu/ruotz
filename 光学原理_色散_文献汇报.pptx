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60440"/>
            <a:ext cx="12191695" cy="82296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60440"/>
            <a:ext cx="12191695" cy="82296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060440"/>
            <a:ext cx="12191695" cy="82296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060440"/>
            <a:ext cx="12191695" cy="82296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060440"/>
            <a:ext cx="12191695" cy="82296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060440"/>
            <a:ext cx="12191695" cy="82296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060440"/>
            <a:ext cx="12191695" cy="82296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741671" cy="310896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41670" y="6547104"/>
            <a:ext cx="1741671" cy="310896"/>
          </a:xfrm>
          <a:prstGeom prst="rect">
            <a:avLst/>
          </a:prstGeom>
          <a:solidFill>
            <a:srgbClr val="3A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83340" y="6547104"/>
            <a:ext cx="1741671" cy="310896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25010" y="6547104"/>
            <a:ext cx="1741671" cy="310896"/>
          </a:xfrm>
          <a:prstGeom prst="rect">
            <a:avLst/>
          </a:prstGeom>
          <a:solidFill>
            <a:srgbClr val="6AB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66680" y="6547104"/>
            <a:ext cx="1741671" cy="310896"/>
          </a:xfrm>
          <a:prstGeom prst="rect">
            <a:avLst/>
          </a:prstGeom>
          <a:solidFill>
            <a:srgbClr val="E8C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08350" y="6547104"/>
            <a:ext cx="1741671" cy="310896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450020" y="6547104"/>
            <a:ext cx="1741671" cy="310896"/>
          </a:xfrm>
          <a:prstGeom prst="rect">
            <a:avLst/>
          </a:prstGeom>
          <a:solidFill>
            <a:srgbClr val="D9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741671" cy="164592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41670" y="0"/>
            <a:ext cx="1741671" cy="164592"/>
          </a:xfrm>
          <a:prstGeom prst="rect">
            <a:avLst/>
          </a:prstGeom>
          <a:solidFill>
            <a:srgbClr val="3A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83340" y="0"/>
            <a:ext cx="1741671" cy="164592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25010" y="0"/>
            <a:ext cx="1741671" cy="164592"/>
          </a:xfrm>
          <a:prstGeom prst="rect">
            <a:avLst/>
          </a:prstGeom>
          <a:solidFill>
            <a:srgbClr val="6AB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66680" y="0"/>
            <a:ext cx="1741671" cy="164592"/>
          </a:xfrm>
          <a:prstGeom prst="rect">
            <a:avLst/>
          </a:prstGeom>
          <a:solidFill>
            <a:srgbClr val="E8C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08350" y="0"/>
            <a:ext cx="1741671" cy="164592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450020" y="0"/>
            <a:ext cx="1741671" cy="164592"/>
          </a:xfrm>
          <a:prstGeom prst="rect">
            <a:avLst/>
          </a:prstGeom>
          <a:solidFill>
            <a:srgbClr val="D9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9C4E8"/>
                </a:solidFill>
                <a:latin typeface="微软雅黑"/>
                <a:ea typeface="微软雅黑"/>
                <a:cs typeface="微软雅黑"/>
              </a:rPr>
              <a:t>《光学原理》 · 课程文献汇报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1874519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色散：被消除，还是被驾驭？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2EC"/>
                </a:solidFill>
                <a:latin typeface="微软雅黑"/>
                <a:ea typeface="微软雅黑"/>
                <a:cs typeface="微软雅黑"/>
              </a:rPr>
              <a:t>从课本的色差与群速度色散，到超透镜与片上光孤子频率梳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16052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AEB8DB"/>
                </a:solidFill>
                <a:latin typeface="微软雅黑"/>
                <a:ea typeface="微软雅黑"/>
                <a:cs typeface="微软雅黑"/>
              </a:rPr>
              <a:t>知识点出处：第 X 章  光的吸收、色散与散射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文献一  全可见光消色差超透镜 ｜ Nature Communications, 2024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文献二  色散/耗散工程化光孤子频率梳 ｜ Light: Sci. &amp; Appl., 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F9BC4"/>
                </a:solidFill>
                <a:latin typeface="微软雅黑"/>
                <a:ea typeface="微软雅黑"/>
                <a:cs typeface="微软雅黑"/>
              </a:rPr>
              <a:t>汇报人：________     日期：________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41671" cy="14630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41670" y="0"/>
            <a:ext cx="1741671" cy="146304"/>
          </a:xfrm>
          <a:prstGeom prst="rect">
            <a:avLst/>
          </a:prstGeom>
          <a:solidFill>
            <a:srgbClr val="3A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83340" y="0"/>
            <a:ext cx="1741671" cy="146304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25010" y="0"/>
            <a:ext cx="1741671" cy="146304"/>
          </a:xfrm>
          <a:prstGeom prst="rect">
            <a:avLst/>
          </a:prstGeom>
          <a:solidFill>
            <a:srgbClr val="6AB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66680" y="0"/>
            <a:ext cx="1741671" cy="146304"/>
          </a:xfrm>
          <a:prstGeom prst="rect">
            <a:avLst/>
          </a:prstGeom>
          <a:solidFill>
            <a:srgbClr val="E8C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08350" y="0"/>
            <a:ext cx="1741671" cy="146304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50020" y="0"/>
            <a:ext cx="1741671" cy="146304"/>
          </a:xfrm>
          <a:prstGeom prst="rect">
            <a:avLst/>
          </a:prstGeom>
          <a:solidFill>
            <a:srgbClr val="D9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46304"/>
            <a:ext cx="146304" cy="1225296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OUTLINE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汇报提纲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389888"/>
            <a:ext cx="11155680" cy="25400"/>
          </a:xfrm>
          <a:prstGeom prst="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1783080"/>
            <a:ext cx="868680" cy="777240"/>
          </a:xfrm>
          <a:prstGeom prst="round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783080"/>
            <a:ext cx="868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1819656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课本知识点回顾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色散的定义、正常/反常色散、色差与群速度色散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679192"/>
            <a:ext cx="868680" cy="777240"/>
          </a:xfrm>
          <a:prstGeom prst="round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679192"/>
            <a:ext cx="868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2715768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为什么选这两篇文献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围绕同一知识点的两种相反思路：消除 vs 驾驭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575304"/>
            <a:ext cx="868680" cy="777240"/>
          </a:xfrm>
          <a:prstGeom prst="round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575304"/>
            <a:ext cx="868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611880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文献一：消色差超透镜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把色差“工程化地消除”——全可见光平面透镜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71416"/>
            <a:ext cx="868680" cy="777240"/>
          </a:xfrm>
          <a:prstGeom prst="roundRect">
            <a:avLst/>
          </a:prstGeom>
          <a:solidFill>
            <a:srgbClr val="D9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471416"/>
            <a:ext cx="868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507992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文献二：光孤子频率梳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把反常色散“主动利用”——片上倍频程光频梳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367528"/>
            <a:ext cx="868680" cy="777240"/>
          </a:xfrm>
          <a:prstGeom prst="round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367528"/>
            <a:ext cx="868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404104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对比 · 总结 · 启示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色散是敌是友？现代光学如何重新定义它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41671" cy="14630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41670" y="0"/>
            <a:ext cx="1741671" cy="146304"/>
          </a:xfrm>
          <a:prstGeom prst="rect">
            <a:avLst/>
          </a:prstGeom>
          <a:solidFill>
            <a:srgbClr val="3A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83340" y="0"/>
            <a:ext cx="1741671" cy="146304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25010" y="0"/>
            <a:ext cx="1741671" cy="146304"/>
          </a:xfrm>
          <a:prstGeom prst="rect">
            <a:avLst/>
          </a:prstGeom>
          <a:solidFill>
            <a:srgbClr val="6AB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66680" y="0"/>
            <a:ext cx="1741671" cy="146304"/>
          </a:xfrm>
          <a:prstGeom prst="rect">
            <a:avLst/>
          </a:prstGeom>
          <a:solidFill>
            <a:srgbClr val="E8C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08350" y="0"/>
            <a:ext cx="1741671" cy="146304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50020" y="0"/>
            <a:ext cx="1741671" cy="146304"/>
          </a:xfrm>
          <a:prstGeom prst="rect">
            <a:avLst/>
          </a:prstGeom>
          <a:solidFill>
            <a:srgbClr val="D9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46304"/>
            <a:ext cx="146304" cy="1225296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01 · 课本知识点回顾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色散：折射率随波长而变  n = n(λ)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389888"/>
            <a:ext cx="11155680" cy="25400"/>
          </a:xfrm>
          <a:prstGeom prst="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1691640"/>
            <a:ext cx="5486400" cy="4526280"/>
          </a:xfrm>
          <a:prstGeom prst="round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691640"/>
            <a:ext cx="5486400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1965960"/>
            <a:ext cx="5029200" cy="406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教材中的色散（经典内容）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色散：介质折射率 n 随光的波长 λ（频率）变化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正常色散：dn/dλ &lt; 0，波长越短折射率越大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    –  </a:t>
            </a:r>
            <a:r>
              <a:rPr sz="13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     → 柯西公式  n = A + B/λ² + C/λ⁴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89A1C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反常色散：在介质吸收带附近 dn/dλ &gt; 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D94A4A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相速度 vs 群速度；群速度色散 GVD：不同频率成分传播速度不同 → 脉冲展宽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典型后果——色差：透镜对红光、蓝光焦点不在同一处，成像发虚、有彩边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691640"/>
            <a:ext cx="5394960" cy="2331720"/>
          </a:xfrm>
          <a:prstGeom prst="roundRect">
            <a:avLst/>
          </a:prstGeom>
          <a:solidFill>
            <a:srgbClr val="E8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棱镜分光：色散最直观的体现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2880360"/>
            <a:ext cx="1554480" cy="508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5400000">
            <a:off x="8092440" y="2468880"/>
            <a:ext cx="914400" cy="1097280"/>
          </a:xfrm>
          <a:prstGeom prst="triangle">
            <a:avLst/>
          </a:prstGeom>
          <a:solidFill>
            <a:srgbClr val="D7DEF0"/>
          </a:solidFill>
          <a:ln w="15240">
            <a:solidFill>
              <a:srgbClr val="141B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8869680" y="2423160"/>
            <a:ext cx="2377440" cy="502920"/>
          </a:xfrm>
          <a:prstGeom prst="bentConnector3">
            <a:avLst/>
          </a:prstGeom>
          <a:ln w="38100">
            <a:solidFill>
              <a:srgbClr val="6C4A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869680" y="2587752"/>
            <a:ext cx="2377440" cy="338328"/>
          </a:xfrm>
          <a:prstGeom prst="bentConnector3">
            <a:avLst/>
          </a:prstGeom>
          <a:ln w="38100">
            <a:solidFill>
              <a:srgbClr val="3A5B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869680" y="2752344"/>
            <a:ext cx="2377440" cy="173736"/>
          </a:xfrm>
          <a:prstGeom prst="bentConnector3">
            <a:avLst/>
          </a:prstGeom>
          <a:ln w="38100">
            <a:solidFill>
              <a:srgbClr val="13A8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869680" y="2916936"/>
            <a:ext cx="2377440" cy="9144"/>
          </a:xfrm>
          <a:prstGeom prst="bentConnector3">
            <a:avLst/>
          </a:prstGeom>
          <a:ln w="38100">
            <a:solidFill>
              <a:srgbClr val="6AB8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869680" y="2926080"/>
            <a:ext cx="2377440" cy="155448"/>
          </a:xfrm>
          <a:prstGeom prst="bentConnector3">
            <a:avLst/>
          </a:prstGeom>
          <a:ln w="38100">
            <a:solidFill>
              <a:srgbClr val="E8C8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869680" y="2926080"/>
            <a:ext cx="2377440" cy="320040"/>
          </a:xfrm>
          <a:prstGeom prst="bentConnector3">
            <a:avLst/>
          </a:prstGeom>
          <a:ln w="38100">
            <a:solidFill>
              <a:srgbClr val="E89A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869680" y="2926080"/>
            <a:ext cx="2377440" cy="484632"/>
          </a:xfrm>
          <a:prstGeom prst="bentConnector3">
            <a:avLst/>
          </a:prstGeom>
          <a:ln w="38100">
            <a:solidFill>
              <a:srgbClr val="D9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263640" y="4160520"/>
            <a:ext cx="5394960" cy="2057400"/>
          </a:xfrm>
          <a:prstGeom prst="roundRect">
            <a:avLst/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4160520"/>
            <a:ext cx="5394960" cy="109728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434840"/>
            <a:ext cx="4937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E89A1C"/>
                </a:solidFill>
                <a:latin typeface="微软雅黑"/>
                <a:ea typeface="微软雅黑"/>
                <a:cs typeface="微软雅黑"/>
              </a:rPr>
              <a:t>教材“老”在哪里？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E89A1C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课本多停留在棱镜、透镜色差、光纤色散等经典现象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E89A1C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00" b="1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近十年：人们既能把色散“精确抹平”，也能把它“为我所用”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E89A1C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下面用两篇 2024 年顶刊文献展示这两条全新路线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41671" cy="14630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41670" y="0"/>
            <a:ext cx="1741671" cy="146304"/>
          </a:xfrm>
          <a:prstGeom prst="rect">
            <a:avLst/>
          </a:prstGeom>
          <a:solidFill>
            <a:srgbClr val="3A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83340" y="0"/>
            <a:ext cx="1741671" cy="146304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25010" y="0"/>
            <a:ext cx="1741671" cy="146304"/>
          </a:xfrm>
          <a:prstGeom prst="rect">
            <a:avLst/>
          </a:prstGeom>
          <a:solidFill>
            <a:srgbClr val="6AB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66680" y="0"/>
            <a:ext cx="1741671" cy="146304"/>
          </a:xfrm>
          <a:prstGeom prst="rect">
            <a:avLst/>
          </a:prstGeom>
          <a:solidFill>
            <a:srgbClr val="E8C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08350" y="0"/>
            <a:ext cx="1741671" cy="146304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50020" y="0"/>
            <a:ext cx="1741671" cy="146304"/>
          </a:xfrm>
          <a:prstGeom prst="rect">
            <a:avLst/>
          </a:prstGeom>
          <a:solidFill>
            <a:srgbClr val="D9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46304"/>
            <a:ext cx="146304" cy="1225296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02 · 选题逻辑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同一个色散，两种相反的现代思路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389888"/>
            <a:ext cx="11155680" cy="25400"/>
          </a:xfrm>
          <a:prstGeom prst="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600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色散在课本里常被当作“成像的麻烦”。但现代光学告诉我们：它既可以被彻底消除，也可以被精准驾驭。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331720"/>
            <a:ext cx="5349240" cy="3657600"/>
          </a:xfrm>
          <a:prstGeom prst="roundRect">
            <a:avLst/>
          </a:prstGeom>
          <a:solidFill>
            <a:srgbClr val="E8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331720"/>
            <a:ext cx="5349240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606040"/>
            <a:ext cx="48920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思路 A · 消除色散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目标：让所有颜色聚焦到同一点（消色差）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对象：超透镜 metalens —— 亚波长纳米结构构成的超薄平面透镜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关键：同时控制相位 + 群延迟，对抗色差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★  </a:t>
            </a:r>
            <a:r>
              <a:rPr sz="14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→ 文献一 (Nature Communications, 2024)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331720"/>
            <a:ext cx="5349240" cy="3657600"/>
          </a:xfrm>
          <a:prstGeom prst="roundRect">
            <a:avLst/>
          </a:prstGeom>
          <a:solidFill>
            <a:srgbClr val="E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331720"/>
            <a:ext cx="5349240" cy="109728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606040"/>
            <a:ext cx="48920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思路 B · 驾驭色散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目标：用反常色散平衡非线性，生成稳定光孤子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对象：片上微环谐振腔 —— 薄膜铌酸锂 (TFLN)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关键：工程化色散 + 耗散，得到倍频程频率梳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★  </a:t>
            </a:r>
            <a:r>
              <a:rPr sz="14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→ 文献二 (Light: Sci. &amp; Appl., 2024)</a:t>
            </a:r>
          </a:p>
        </p:txBody>
      </p:sp>
      <p:sp>
        <p:nvSpPr>
          <p:cNvPr id="22" name="Oval 21"/>
          <p:cNvSpPr/>
          <p:nvPr/>
        </p:nvSpPr>
        <p:spPr>
          <a:xfrm>
            <a:off x="5715000" y="3703320"/>
            <a:ext cx="914400" cy="914400"/>
          </a:xfrm>
          <a:prstGeom prst="ellipse">
            <a:avLst/>
          </a:prstGeom>
          <a:solidFill>
            <a:srgbClr val="141B41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370332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41671" cy="14630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41670" y="0"/>
            <a:ext cx="1741671" cy="146304"/>
          </a:xfrm>
          <a:prstGeom prst="rect">
            <a:avLst/>
          </a:prstGeom>
          <a:solidFill>
            <a:srgbClr val="3A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83340" y="0"/>
            <a:ext cx="1741671" cy="146304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25010" y="0"/>
            <a:ext cx="1741671" cy="146304"/>
          </a:xfrm>
          <a:prstGeom prst="rect">
            <a:avLst/>
          </a:prstGeom>
          <a:solidFill>
            <a:srgbClr val="6AB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66680" y="0"/>
            <a:ext cx="1741671" cy="146304"/>
          </a:xfrm>
          <a:prstGeom prst="rect">
            <a:avLst/>
          </a:prstGeom>
          <a:solidFill>
            <a:srgbClr val="E8C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08350" y="0"/>
            <a:ext cx="1741671" cy="146304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50020" y="0"/>
            <a:ext cx="1741671" cy="146304"/>
          </a:xfrm>
          <a:prstGeom prst="rect">
            <a:avLst/>
          </a:prstGeom>
          <a:solidFill>
            <a:srgbClr val="D9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46304"/>
            <a:ext cx="146304" cy="1225296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03 · 文献一 / 背景与问题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消色差超透镜：把色差工程化地消除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389888"/>
            <a:ext cx="11155680" cy="25400"/>
          </a:xfrm>
          <a:prstGeom prst="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1600200"/>
            <a:ext cx="10972800" cy="960120"/>
          </a:xfrm>
          <a:prstGeom prst="round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1700784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Achromatic metalenses for full visible spectrum with extended group delay control via dispersion-matched layers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9D2EC"/>
                </a:solidFill>
                <a:latin typeface="微软雅黑"/>
                <a:ea typeface="微软雅黑"/>
                <a:cs typeface="微软雅黑"/>
              </a:rPr>
              <a:t>Nature Communications (2024)  ·  关键词：超透镜 / 消色差 / 群延迟 / 色散工程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88920"/>
            <a:ext cx="5349240" cy="3291840"/>
          </a:xfrm>
          <a:prstGeom prst="round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788920"/>
            <a:ext cx="5349240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063240"/>
            <a:ext cx="48920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问题背景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超透镜：用亚波长“超原子”阵列在平面上逐点控制光的相位，替代厚重的曲面玻璃透镜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天然缺陷：超透镜的相位本质上依赖波长，天生有强烈色差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要消色差，每个超原子不仅要给对相位，还要给对“群延迟” GD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788920"/>
            <a:ext cx="5349240" cy="3291840"/>
          </a:xfrm>
          <a:prstGeom prst="roundRect">
            <a:avLst/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788920"/>
            <a:ext cx="5349240" cy="109728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063240"/>
            <a:ext cx="48920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E89A1C"/>
                </a:solidFill>
                <a:latin typeface="微软雅黑"/>
                <a:ea typeface="微软雅黑"/>
                <a:cs typeface="微软雅黑"/>
              </a:rPr>
              <a:t>核心瓶颈：群延迟极限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89A1C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可实现的最大群延迟 ∝ 材料厚度与超原子库的丰富度，存在上限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89A1C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群延迟极限 → 直接限制了消色差超透镜的 口径 × 数值孔径(NA)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89A1C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因此过去消色差超透镜口径很小，难以做大、难以实用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41671" cy="14630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41670" y="0"/>
            <a:ext cx="1741671" cy="146304"/>
          </a:xfrm>
          <a:prstGeom prst="rect">
            <a:avLst/>
          </a:prstGeom>
          <a:solidFill>
            <a:srgbClr val="3A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83340" y="0"/>
            <a:ext cx="1741671" cy="146304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25010" y="0"/>
            <a:ext cx="1741671" cy="146304"/>
          </a:xfrm>
          <a:prstGeom prst="rect">
            <a:avLst/>
          </a:prstGeom>
          <a:solidFill>
            <a:srgbClr val="6AB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66680" y="0"/>
            <a:ext cx="1741671" cy="146304"/>
          </a:xfrm>
          <a:prstGeom prst="rect">
            <a:avLst/>
          </a:prstGeom>
          <a:solidFill>
            <a:srgbClr val="E8C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08350" y="0"/>
            <a:ext cx="1741671" cy="146304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50020" y="0"/>
            <a:ext cx="1741671" cy="146304"/>
          </a:xfrm>
          <a:prstGeom prst="rect">
            <a:avLst/>
          </a:prstGeom>
          <a:solidFill>
            <a:srgbClr val="D9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46304"/>
            <a:ext cx="146304" cy="1225296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03 · 文献一 / 方法与创新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用“色散匹配层”突破群延迟极限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389888"/>
            <a:ext cx="11155680" cy="25400"/>
          </a:xfrm>
          <a:prstGeom prst="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1691640"/>
            <a:ext cx="5349240" cy="4526280"/>
          </a:xfrm>
          <a:prstGeom prst="roundRect">
            <a:avLst/>
          </a:prstGeom>
          <a:solidFill>
            <a:srgbClr val="E8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1691640"/>
            <a:ext cx="5349240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1965960"/>
            <a:ext cx="4892040" cy="406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核心创新点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提出“色散匹配层 (dispersion-matched layers)”：在超原子层之外，叠加专门提供额外群延迟的辅助结构层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两层的色散特性相互匹配 → 大幅扩展可控群延迟范围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等价于突破了单层超表面的群延迟极限，从而放大消色差口径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1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在整个可见光波段实现“同焦点”：红、绿、蓝聚焦到同一平面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691640"/>
            <a:ext cx="5394960" cy="4526280"/>
          </a:xfrm>
          <a:prstGeom prst="round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691640"/>
            <a:ext cx="5394960" cy="109728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965960"/>
            <a:ext cx="4937760" cy="406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为什么需要“群延迟”？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1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消色差条件 = 相位条件 + 群延迟条件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相位 φ(λ₀)：保证中心波长正确聚焦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群延迟 dφ/dω：保证不同波长的波前“同时到达”焦点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群延迟需要的范围随 口径、NA 增大而增大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4617720"/>
            <a:ext cx="49377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736592"/>
            <a:ext cx="45720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所需群延迟  ∝  (口径 / 2) · NA / c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口径越大、NA 越高 → 需要越大的群延迟范围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41671" cy="14630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41670" y="0"/>
            <a:ext cx="1741671" cy="146304"/>
          </a:xfrm>
          <a:prstGeom prst="rect">
            <a:avLst/>
          </a:prstGeom>
          <a:solidFill>
            <a:srgbClr val="3A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83340" y="0"/>
            <a:ext cx="1741671" cy="146304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25010" y="0"/>
            <a:ext cx="1741671" cy="146304"/>
          </a:xfrm>
          <a:prstGeom prst="rect">
            <a:avLst/>
          </a:prstGeom>
          <a:solidFill>
            <a:srgbClr val="6AB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66680" y="0"/>
            <a:ext cx="1741671" cy="146304"/>
          </a:xfrm>
          <a:prstGeom prst="rect">
            <a:avLst/>
          </a:prstGeom>
          <a:solidFill>
            <a:srgbClr val="E8C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08350" y="0"/>
            <a:ext cx="1741671" cy="146304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50020" y="0"/>
            <a:ext cx="1741671" cy="146304"/>
          </a:xfrm>
          <a:prstGeom prst="rect">
            <a:avLst/>
          </a:prstGeom>
          <a:solidFill>
            <a:srgbClr val="D9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46304"/>
            <a:ext cx="146304" cy="1225296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03 · 文献一 / 实验结果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做出了一整套不同口径的消色差超透镜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389888"/>
            <a:ext cx="11155680" cy="25400"/>
          </a:xfrm>
          <a:prstGeom prst="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1737360"/>
            <a:ext cx="2606040" cy="1554480"/>
          </a:xfrm>
          <a:prstGeom prst="round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1737360"/>
            <a:ext cx="2606040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965960"/>
            <a:ext cx="26060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16 μm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NA 0.27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口径 / 数值孔径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1737360"/>
            <a:ext cx="2606040" cy="1554480"/>
          </a:xfrm>
          <a:prstGeom prst="round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3280" y="1737360"/>
            <a:ext cx="2606040" cy="109728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1965960"/>
            <a:ext cx="26060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66 μm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NA 0.11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口径 / 数值孔径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737360"/>
            <a:ext cx="2606040" cy="1554480"/>
          </a:xfrm>
          <a:prstGeom prst="round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737360"/>
            <a:ext cx="2606040" cy="109728"/>
          </a:xfrm>
          <a:prstGeom prst="rect">
            <a:avLst/>
          </a:prstGeom>
          <a:solidFill>
            <a:srgbClr val="E8C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965960"/>
            <a:ext cx="26060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200 μm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8C81C"/>
                </a:solidFill>
                <a:latin typeface="微软雅黑"/>
                <a:ea typeface="微软雅黑"/>
                <a:cs typeface="微软雅黑"/>
              </a:rPr>
              <a:t>NA 0.04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口径 / 数值孔径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1737360"/>
            <a:ext cx="2606040" cy="1554480"/>
          </a:xfrm>
          <a:prstGeom prst="round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1737360"/>
            <a:ext cx="2606040" cy="109728"/>
          </a:xfrm>
          <a:prstGeom prst="rect">
            <a:avLst/>
          </a:prstGeom>
          <a:solidFill>
            <a:srgbClr val="D9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1965960"/>
            <a:ext cx="26060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400 μm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D94A4A"/>
                </a:solidFill>
                <a:latin typeface="微软雅黑"/>
                <a:ea typeface="微软雅黑"/>
                <a:cs typeface="微软雅黑"/>
              </a:rPr>
              <a:t>NA 0.02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口径 / 数值孔径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611880"/>
            <a:ext cx="10972800" cy="2606040"/>
          </a:xfrm>
          <a:prstGeom prst="roundRect">
            <a:avLst/>
          </a:prstGeom>
          <a:solidFill>
            <a:srgbClr val="E8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3611880"/>
            <a:ext cx="10972800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886200"/>
            <a:ext cx="1051560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结论与意义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5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在 16 / 66 / 200 / 400 μm 多种口径上设计、加工并实测了消色差超透镜，覆盖全可见光波段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5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“色散匹配层”策略可扩展群延迟、放大消色差口径，为更大尺寸、更高 NA 的平面消色差透镜提供了路径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500" b="1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应用前景：手机/内窥镜/AR 眼镜等超薄成像模组，替代厚重的多片消色差镜组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41671" cy="14630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41670" y="0"/>
            <a:ext cx="1741671" cy="146304"/>
          </a:xfrm>
          <a:prstGeom prst="rect">
            <a:avLst/>
          </a:prstGeom>
          <a:solidFill>
            <a:srgbClr val="3A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83340" y="0"/>
            <a:ext cx="1741671" cy="146304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25010" y="0"/>
            <a:ext cx="1741671" cy="146304"/>
          </a:xfrm>
          <a:prstGeom prst="rect">
            <a:avLst/>
          </a:prstGeom>
          <a:solidFill>
            <a:srgbClr val="6AB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66680" y="0"/>
            <a:ext cx="1741671" cy="146304"/>
          </a:xfrm>
          <a:prstGeom prst="rect">
            <a:avLst/>
          </a:prstGeom>
          <a:solidFill>
            <a:srgbClr val="E8C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08350" y="0"/>
            <a:ext cx="1741671" cy="146304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50020" y="0"/>
            <a:ext cx="1741671" cy="146304"/>
          </a:xfrm>
          <a:prstGeom prst="rect">
            <a:avLst/>
          </a:prstGeom>
          <a:solidFill>
            <a:srgbClr val="D9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46304"/>
            <a:ext cx="146304" cy="1225296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03 · 文献一 / 与课本知识点的联系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课本概念 → 前沿研究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389888"/>
            <a:ext cx="11155680" cy="25400"/>
          </a:xfrm>
          <a:prstGeom prst="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1783080"/>
            <a:ext cx="4297680" cy="960120"/>
          </a:xfrm>
          <a:prstGeom prst="round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1783080"/>
            <a:ext cx="128016" cy="960120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1783080"/>
            <a:ext cx="3931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色差 (chromatic aberration)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029200" y="2075688"/>
            <a:ext cx="731520" cy="365760"/>
          </a:xfrm>
          <a:prstGeom prst="rightArrow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97880" y="1783080"/>
            <a:ext cx="5715000" cy="960120"/>
          </a:xfrm>
          <a:prstGeom prst="roundRect">
            <a:avLst/>
          </a:prstGeom>
          <a:solidFill>
            <a:srgbClr val="E8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783080"/>
            <a:ext cx="53035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正是要消除的对象——让红绿蓝重新聚焦于同一焦点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880360"/>
            <a:ext cx="4297680" cy="960120"/>
          </a:xfrm>
          <a:prstGeom prst="round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2880360"/>
            <a:ext cx="128016" cy="960120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2880360"/>
            <a:ext cx="3931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正常色散 / n = n(λ)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029200" y="3172968"/>
            <a:ext cx="731520" cy="365760"/>
          </a:xfrm>
          <a:prstGeom prst="rightArrow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897880" y="2880360"/>
            <a:ext cx="5715000" cy="960120"/>
          </a:xfrm>
          <a:prstGeom prst="roundRect">
            <a:avLst/>
          </a:prstGeom>
          <a:solidFill>
            <a:srgbClr val="E8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2880360"/>
            <a:ext cx="53035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超透镜相位天然随波长变化，是色差的根源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977640"/>
            <a:ext cx="4297680" cy="960120"/>
          </a:xfrm>
          <a:prstGeom prst="round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3977640"/>
            <a:ext cx="128016" cy="960120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977640"/>
            <a:ext cx="3931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相速度 vs 群速度 / 群延迟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029200" y="4270248"/>
            <a:ext cx="731520" cy="365760"/>
          </a:xfrm>
          <a:prstGeom prst="rightArrow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897880" y="3977640"/>
            <a:ext cx="5715000" cy="960120"/>
          </a:xfrm>
          <a:prstGeom prst="roundRect">
            <a:avLst/>
          </a:prstGeom>
          <a:solidFill>
            <a:srgbClr val="E8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40"/>
            <a:ext cx="53035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消色差的关键判据从“相位”升级为“相位 + 群延迟”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074920"/>
            <a:ext cx="4297680" cy="960120"/>
          </a:xfrm>
          <a:prstGeom prst="round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5074920"/>
            <a:ext cx="128016" cy="960120"/>
          </a:xfrm>
          <a:prstGeom prst="rect">
            <a:avLst/>
          </a:prstGeom>
          <a:solidFill>
            <a:srgbClr val="D9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074920"/>
            <a:ext cx="3931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色散是“成像的麻烦”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5029200" y="5367528"/>
            <a:ext cx="731520" cy="365760"/>
          </a:xfrm>
          <a:prstGeom prst="rightArrow">
            <a:avLst/>
          </a:prstGeom>
          <a:solidFill>
            <a:srgbClr val="D9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97880" y="5074920"/>
            <a:ext cx="5715000" cy="960120"/>
          </a:xfrm>
          <a:prstGeom prst="roundRect">
            <a:avLst/>
          </a:prstGeom>
          <a:solidFill>
            <a:srgbClr val="E8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5074920"/>
            <a:ext cx="53035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现代手段把它工程化地“抹平”，而非简单回避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41671" cy="14630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41670" y="0"/>
            <a:ext cx="1741671" cy="146304"/>
          </a:xfrm>
          <a:prstGeom prst="rect">
            <a:avLst/>
          </a:prstGeom>
          <a:solidFill>
            <a:srgbClr val="3A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83340" y="0"/>
            <a:ext cx="1741671" cy="146304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25010" y="0"/>
            <a:ext cx="1741671" cy="146304"/>
          </a:xfrm>
          <a:prstGeom prst="rect">
            <a:avLst/>
          </a:prstGeom>
          <a:solidFill>
            <a:srgbClr val="6AB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66680" y="0"/>
            <a:ext cx="1741671" cy="146304"/>
          </a:xfrm>
          <a:prstGeom prst="rect">
            <a:avLst/>
          </a:prstGeom>
          <a:solidFill>
            <a:srgbClr val="E8C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08350" y="0"/>
            <a:ext cx="1741671" cy="146304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50020" y="0"/>
            <a:ext cx="1741671" cy="146304"/>
          </a:xfrm>
          <a:prstGeom prst="rect">
            <a:avLst/>
          </a:prstGeom>
          <a:solidFill>
            <a:srgbClr val="D9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46304"/>
            <a:ext cx="146304" cy="1225296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04 · 文献二 / 背景与问题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光孤子频率梳：把反常色散主动利用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389888"/>
            <a:ext cx="11155680" cy="25400"/>
          </a:xfrm>
          <a:prstGeom prst="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1600200"/>
            <a:ext cx="10972800" cy="960120"/>
          </a:xfrm>
          <a:prstGeom prst="round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1700784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Octave-spanning Kerr soliton frequency combs in dispersion- and dissipation-engineered lithium niobate microresonators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FF3F1"/>
                </a:solidFill>
                <a:latin typeface="微软雅黑"/>
                <a:ea typeface="微软雅黑"/>
                <a:cs typeface="微软雅黑"/>
              </a:rPr>
              <a:t>Light: Science &amp; Applications (2024) · Harvard, Lončar 组 · 关键词：光孤子 / 频率梳 / 反常色散 / 铌酸锂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88920"/>
            <a:ext cx="5349240" cy="3291840"/>
          </a:xfrm>
          <a:prstGeom prst="round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788920"/>
            <a:ext cx="5349240" cy="109728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063240"/>
            <a:ext cx="48920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什么是光孤子频率梳？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光频率梳：频谱上等间距、像“梳齿”一样的激光线，是精密测量/光钟/光通信的核心光源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微腔孤子梳：在微环谐振腔内形成稳定传输的光脉冲（耗散克尔孤子 DKS），把整套梳搬上芯片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50" b="1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孤子能稳定存在的物理基础：反常色散与克尔非线性相互平衡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788920"/>
            <a:ext cx="5349240" cy="3291840"/>
          </a:xfrm>
          <a:prstGeom prst="roundRect">
            <a:avLst/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788920"/>
            <a:ext cx="5349240" cy="109728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063240"/>
            <a:ext cx="48920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E89A1C"/>
                </a:solidFill>
                <a:latin typeface="微软雅黑"/>
                <a:ea typeface="微软雅黑"/>
                <a:cs typeface="微软雅黑"/>
              </a:rPr>
              <a:t>难点在哪里？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E89A1C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薄膜铌酸锂(TFLN)性能优异，但存在强拉曼效应，会“抢走”能量、抑制孤子形成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E89A1C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要同时满足：合适的反常色散 + 抑制拉曼，难度大、器件成品率低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E89A1C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目标：稳定、可重复地做出“倍频程(覆盖一个倍频)”的宽谱孤子梳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41671" cy="14630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41670" y="0"/>
            <a:ext cx="1741671" cy="146304"/>
          </a:xfrm>
          <a:prstGeom prst="rect">
            <a:avLst/>
          </a:prstGeom>
          <a:solidFill>
            <a:srgbClr val="3A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83340" y="0"/>
            <a:ext cx="1741671" cy="146304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25010" y="0"/>
            <a:ext cx="1741671" cy="146304"/>
          </a:xfrm>
          <a:prstGeom prst="rect">
            <a:avLst/>
          </a:prstGeom>
          <a:solidFill>
            <a:srgbClr val="6AB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66680" y="0"/>
            <a:ext cx="1741671" cy="146304"/>
          </a:xfrm>
          <a:prstGeom prst="rect">
            <a:avLst/>
          </a:prstGeom>
          <a:solidFill>
            <a:srgbClr val="E8C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08350" y="0"/>
            <a:ext cx="1741671" cy="146304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50020" y="0"/>
            <a:ext cx="1741671" cy="146304"/>
          </a:xfrm>
          <a:prstGeom prst="rect">
            <a:avLst/>
          </a:prstGeom>
          <a:solidFill>
            <a:srgbClr val="D9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46304"/>
            <a:ext cx="146304" cy="1225296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04 · 文献二 / 方法与创新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同时工程化“色散”与“耗散”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389888"/>
            <a:ext cx="11155680" cy="25400"/>
          </a:xfrm>
          <a:prstGeom prst="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1691640"/>
            <a:ext cx="5349240" cy="4526280"/>
          </a:xfrm>
          <a:prstGeom prst="roundRect">
            <a:avLst/>
          </a:prstGeom>
          <a:solidFill>
            <a:srgbClr val="E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1691640"/>
            <a:ext cx="5349240" cy="109728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1965960"/>
            <a:ext cx="4892040" cy="406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核心创新点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色散工程：调节微环几何，精确设计反常群速度色散(GVD)，为孤子提供存在条件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耗散工程：设计腔的“损耗谱”，在拉曼增益频段引入更高损耗，从而抑制拉曼激射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通过控制自由光谱范围(FSR)与耗散谱，压制抑制孤子的拉曼效应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1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得到完整连通、覆盖一个倍频程的孤子梳，且器件成品率接近 100%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691640"/>
            <a:ext cx="5394960" cy="2377440"/>
          </a:xfrm>
          <a:prstGeom prst="round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691640"/>
            <a:ext cx="5394960" cy="109728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965960"/>
            <a:ext cx="49377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E89A1C"/>
                </a:solidFill>
                <a:latin typeface="微软雅黑"/>
                <a:ea typeface="微软雅黑"/>
                <a:cs typeface="微软雅黑"/>
              </a:rPr>
              <a:t>孤子的物理图像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色散：让脉冲在时间上展宽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89A1C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克尔非线性：让脉冲在时间上压缩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1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两者恰好平衡 → 形状不变的稳定脉冲 = 孤子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06240"/>
            <a:ext cx="5394960" cy="2011680"/>
          </a:xfrm>
          <a:prstGeom prst="roundRect">
            <a:avLst/>
          </a:prstGeom>
          <a:solidFill>
            <a:srgbClr val="E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370832"/>
            <a:ext cx="49377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反常色散  ⇄  克尔非线性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（展宽）            （压缩）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平衡 → 稳定光孤子 → 等间距频率梳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41671" cy="14630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41670" y="0"/>
            <a:ext cx="1741671" cy="146304"/>
          </a:xfrm>
          <a:prstGeom prst="rect">
            <a:avLst/>
          </a:prstGeom>
          <a:solidFill>
            <a:srgbClr val="3A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83340" y="0"/>
            <a:ext cx="1741671" cy="146304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25010" y="0"/>
            <a:ext cx="1741671" cy="146304"/>
          </a:xfrm>
          <a:prstGeom prst="rect">
            <a:avLst/>
          </a:prstGeom>
          <a:solidFill>
            <a:srgbClr val="6AB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66680" y="0"/>
            <a:ext cx="1741671" cy="146304"/>
          </a:xfrm>
          <a:prstGeom prst="rect">
            <a:avLst/>
          </a:prstGeom>
          <a:solidFill>
            <a:srgbClr val="E8C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08350" y="0"/>
            <a:ext cx="1741671" cy="146304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50020" y="0"/>
            <a:ext cx="1741671" cy="146304"/>
          </a:xfrm>
          <a:prstGeom prst="rect">
            <a:avLst/>
          </a:prstGeom>
          <a:solidFill>
            <a:srgbClr val="D9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46304"/>
            <a:ext cx="146304" cy="1225296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04 · 文献二 / 结果与应用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倍频程、近乎 100% 成品率的片上孤子梳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389888"/>
            <a:ext cx="11155680" cy="25400"/>
          </a:xfrm>
          <a:prstGeom prst="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1737360"/>
            <a:ext cx="3566160" cy="1828800"/>
          </a:xfrm>
          <a:prstGeom prst="round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1737360"/>
            <a:ext cx="3566160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965960"/>
            <a:ext cx="32004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Octave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倍频程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频谱覆盖一个完整倍频，利于自参考稳频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737360"/>
            <a:ext cx="3566160" cy="1828800"/>
          </a:xfrm>
          <a:prstGeom prst="round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737360"/>
            <a:ext cx="3566160" cy="109728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1965960"/>
            <a:ext cx="32004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~100%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器件成品率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拉曼抑制策略让孤子器件可重复制造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737360"/>
            <a:ext cx="3566160" cy="1828800"/>
          </a:xfrm>
          <a:prstGeom prst="round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737360"/>
            <a:ext cx="3566160" cy="109728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965960"/>
            <a:ext cx="32004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TFLN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89A1C"/>
                </a:solidFill>
                <a:latin typeface="微软雅黑"/>
                <a:ea typeface="微软雅黑"/>
                <a:cs typeface="微软雅黑"/>
              </a:rPr>
              <a:t>薄膜铌酸锂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兼具克尔与电光效应的优异集成平台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886200"/>
            <a:ext cx="10972800" cy="2331720"/>
          </a:xfrm>
          <a:prstGeom prst="roundRect">
            <a:avLst/>
          </a:prstGeom>
          <a:solidFill>
            <a:srgbClr val="E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886200"/>
            <a:ext cx="10972800" cy="109728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160520"/>
            <a:ext cx="10515600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意义与应用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5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给出了在铌酸锂上抑制拉曼、稳定生成宽谱孤子梳的明确设计准则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5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倍频程频谱是实现“自参考”、把光频梳锁定为光钟/频率基准的前提条件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500" b="1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应用：芯片级光钟、精密光谱、相干光通信、微波/毫米波信号源、激光雷达(LiDAR)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41671" cy="14630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41670" y="0"/>
            <a:ext cx="1741671" cy="146304"/>
          </a:xfrm>
          <a:prstGeom prst="rect">
            <a:avLst/>
          </a:prstGeom>
          <a:solidFill>
            <a:srgbClr val="3A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83340" y="0"/>
            <a:ext cx="1741671" cy="146304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25010" y="0"/>
            <a:ext cx="1741671" cy="146304"/>
          </a:xfrm>
          <a:prstGeom prst="rect">
            <a:avLst/>
          </a:prstGeom>
          <a:solidFill>
            <a:srgbClr val="6AB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66680" y="0"/>
            <a:ext cx="1741671" cy="146304"/>
          </a:xfrm>
          <a:prstGeom prst="rect">
            <a:avLst/>
          </a:prstGeom>
          <a:solidFill>
            <a:srgbClr val="E8C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08350" y="0"/>
            <a:ext cx="1741671" cy="146304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50020" y="0"/>
            <a:ext cx="1741671" cy="146304"/>
          </a:xfrm>
          <a:prstGeom prst="rect">
            <a:avLst/>
          </a:prstGeom>
          <a:solidFill>
            <a:srgbClr val="D9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46304"/>
            <a:ext cx="146304" cy="1225296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04 · 文献二 / 与课本知识点的联系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课本概念 → 前沿研究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389888"/>
            <a:ext cx="11155680" cy="25400"/>
          </a:xfrm>
          <a:prstGeom prst="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1783080"/>
            <a:ext cx="4297680" cy="960120"/>
          </a:xfrm>
          <a:prstGeom prst="round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1783080"/>
            <a:ext cx="128016" cy="960120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1783080"/>
            <a:ext cx="3931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反常色散 (dn/dλ &gt; 0)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029200" y="2075688"/>
            <a:ext cx="731520" cy="365760"/>
          </a:xfrm>
          <a:prstGeom prst="rightArrow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97880" y="1783080"/>
            <a:ext cx="5715000" cy="960120"/>
          </a:xfrm>
          <a:prstGeom prst="roundRect">
            <a:avLst/>
          </a:prstGeom>
          <a:solidFill>
            <a:srgbClr val="E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783080"/>
            <a:ext cx="53035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不再是“反常”的累赘，而是孤子能稳定存在的必要条件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880360"/>
            <a:ext cx="4297680" cy="960120"/>
          </a:xfrm>
          <a:prstGeom prst="round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2880360"/>
            <a:ext cx="128016" cy="960120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2880360"/>
            <a:ext cx="3931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群速度色散 GVD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029200" y="3172968"/>
            <a:ext cx="731520" cy="365760"/>
          </a:xfrm>
          <a:prstGeom prst="rightArrow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897880" y="2880360"/>
            <a:ext cx="5715000" cy="960120"/>
          </a:xfrm>
          <a:prstGeom prst="roundRect">
            <a:avLst/>
          </a:prstGeom>
          <a:solidFill>
            <a:srgbClr val="E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2880360"/>
            <a:ext cx="53035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通过微腔几何被精确“设计”，决定孤子能否形成与谱宽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977640"/>
            <a:ext cx="4297680" cy="960120"/>
          </a:xfrm>
          <a:prstGeom prst="round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3977640"/>
            <a:ext cx="128016" cy="960120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977640"/>
            <a:ext cx="3931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色散 ⇄ 非线性 平衡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029200" y="4270248"/>
            <a:ext cx="731520" cy="365760"/>
          </a:xfrm>
          <a:prstGeom prst="rightArrow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897880" y="3977640"/>
            <a:ext cx="5715000" cy="960120"/>
          </a:xfrm>
          <a:prstGeom prst="roundRect">
            <a:avLst/>
          </a:prstGeom>
          <a:solidFill>
            <a:srgbClr val="E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40"/>
            <a:ext cx="53035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色散与克尔效应平衡 → 形状不变的光孤子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074920"/>
            <a:ext cx="4297680" cy="960120"/>
          </a:xfrm>
          <a:prstGeom prst="round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5074920"/>
            <a:ext cx="128016" cy="960120"/>
          </a:xfrm>
          <a:prstGeom prst="rect">
            <a:avLst/>
          </a:prstGeom>
          <a:solidFill>
            <a:srgbClr val="D9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074920"/>
            <a:ext cx="3931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光的吸收 / 损耗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5029200" y="5367528"/>
            <a:ext cx="731520" cy="365760"/>
          </a:xfrm>
          <a:prstGeom prst="rightArrow">
            <a:avLst/>
          </a:prstGeom>
          <a:solidFill>
            <a:srgbClr val="D9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97880" y="5074920"/>
            <a:ext cx="5715000" cy="960120"/>
          </a:xfrm>
          <a:prstGeom prst="roundRect">
            <a:avLst/>
          </a:prstGeom>
          <a:solidFill>
            <a:srgbClr val="E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5074920"/>
            <a:ext cx="53035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“耗散工程”主动设计损耗谱，抑制拉曼、保护孤子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41671" cy="14630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41670" y="0"/>
            <a:ext cx="1741671" cy="146304"/>
          </a:xfrm>
          <a:prstGeom prst="rect">
            <a:avLst/>
          </a:prstGeom>
          <a:solidFill>
            <a:srgbClr val="3A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83340" y="0"/>
            <a:ext cx="1741671" cy="146304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25010" y="0"/>
            <a:ext cx="1741671" cy="146304"/>
          </a:xfrm>
          <a:prstGeom prst="rect">
            <a:avLst/>
          </a:prstGeom>
          <a:solidFill>
            <a:srgbClr val="6AB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66680" y="0"/>
            <a:ext cx="1741671" cy="146304"/>
          </a:xfrm>
          <a:prstGeom prst="rect">
            <a:avLst/>
          </a:prstGeom>
          <a:solidFill>
            <a:srgbClr val="E8C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08350" y="0"/>
            <a:ext cx="1741671" cy="146304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50020" y="0"/>
            <a:ext cx="1741671" cy="146304"/>
          </a:xfrm>
          <a:prstGeom prst="rect">
            <a:avLst/>
          </a:prstGeom>
          <a:solidFill>
            <a:srgbClr val="D9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46304"/>
            <a:ext cx="146304" cy="1225296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05 · 对比与总结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两篇文献：色散的一体两面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389888"/>
            <a:ext cx="11155680" cy="25400"/>
          </a:xfrm>
          <a:prstGeom prst="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1691640"/>
            <a:ext cx="2743200" cy="54864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691640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对比维度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691640"/>
            <a:ext cx="4434840" cy="548640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691640"/>
            <a:ext cx="4434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文献一 · 消色差超透镜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1691640"/>
            <a:ext cx="4434840" cy="548640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1691640"/>
            <a:ext cx="4434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文献二 · 光孤子频率梳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240280"/>
            <a:ext cx="2743200" cy="758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2240280"/>
            <a:ext cx="252374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对色散的态度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2240280"/>
            <a:ext cx="4434840" cy="758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93008" y="2240280"/>
            <a:ext cx="421538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消除（视为敌人）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18120" y="2240280"/>
            <a:ext cx="4434840" cy="758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7848" y="2240280"/>
            <a:ext cx="421538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驾驭（视为朋友）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2999232"/>
            <a:ext cx="2743200" cy="758952"/>
          </a:xfrm>
          <a:prstGeom prst="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2999232"/>
            <a:ext cx="252374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用到的色散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2999232"/>
            <a:ext cx="4434840" cy="758952"/>
          </a:xfrm>
          <a:prstGeom prst="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2999232"/>
            <a:ext cx="421538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正常色散 / 色差 / 群延迟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18120" y="2999232"/>
            <a:ext cx="4434840" cy="758952"/>
          </a:xfrm>
          <a:prstGeom prst="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27848" y="2999232"/>
            <a:ext cx="421538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反常色散 / 群速度色散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758184"/>
            <a:ext cx="2743200" cy="758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3758184"/>
            <a:ext cx="252374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载体平台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3758184"/>
            <a:ext cx="4434840" cy="758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93008" y="3758184"/>
            <a:ext cx="421538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亚波长超表面（平面超透镜）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18120" y="3758184"/>
            <a:ext cx="4434840" cy="758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27848" y="3758184"/>
            <a:ext cx="421538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片上微环（薄膜铌酸锂）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4517136"/>
            <a:ext cx="2743200" cy="758952"/>
          </a:xfrm>
          <a:prstGeom prst="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4517136"/>
            <a:ext cx="252374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关键创新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80" y="4517136"/>
            <a:ext cx="4434840" cy="758952"/>
          </a:xfrm>
          <a:prstGeom prst="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93008" y="4517136"/>
            <a:ext cx="421538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色散匹配层，突破群延迟极限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18120" y="4517136"/>
            <a:ext cx="4434840" cy="758952"/>
          </a:xfrm>
          <a:prstGeom prst="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27848" y="4517136"/>
            <a:ext cx="421538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色散+耗散工程，抑制拉曼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5276088"/>
            <a:ext cx="2743200" cy="758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8" y="5276088"/>
            <a:ext cx="252374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典型应用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83280" y="5276088"/>
            <a:ext cx="4434840" cy="758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93008" y="5276088"/>
            <a:ext cx="421538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超薄消色差成像（手机/AR/内窥镜）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18120" y="5276088"/>
            <a:ext cx="4434840" cy="758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27848" y="5276088"/>
            <a:ext cx="421538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光钟/光通信/激光雷达/微波源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" y="1691640"/>
            <a:ext cx="10972800" cy="3175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41671" cy="14630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41670" y="0"/>
            <a:ext cx="1741671" cy="146304"/>
          </a:xfrm>
          <a:prstGeom prst="rect">
            <a:avLst/>
          </a:prstGeom>
          <a:solidFill>
            <a:srgbClr val="3A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83340" y="0"/>
            <a:ext cx="1741671" cy="146304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25010" y="0"/>
            <a:ext cx="1741671" cy="146304"/>
          </a:xfrm>
          <a:prstGeom prst="rect">
            <a:avLst/>
          </a:prstGeom>
          <a:solidFill>
            <a:srgbClr val="6AB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66680" y="0"/>
            <a:ext cx="1741671" cy="146304"/>
          </a:xfrm>
          <a:prstGeom prst="rect">
            <a:avLst/>
          </a:prstGeom>
          <a:solidFill>
            <a:srgbClr val="E8C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08350" y="0"/>
            <a:ext cx="1741671" cy="146304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50020" y="0"/>
            <a:ext cx="1741671" cy="146304"/>
          </a:xfrm>
          <a:prstGeom prst="rect">
            <a:avLst/>
          </a:prstGeom>
          <a:solidFill>
            <a:srgbClr val="D9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11696"/>
            <a:ext cx="1741671" cy="14630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41670" y="6711696"/>
            <a:ext cx="1741671" cy="146304"/>
          </a:xfrm>
          <a:prstGeom prst="rect">
            <a:avLst/>
          </a:prstGeom>
          <a:solidFill>
            <a:srgbClr val="3A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83340" y="6711696"/>
            <a:ext cx="1741671" cy="146304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25010" y="6711696"/>
            <a:ext cx="1741671" cy="146304"/>
          </a:xfrm>
          <a:prstGeom prst="rect">
            <a:avLst/>
          </a:prstGeom>
          <a:solidFill>
            <a:srgbClr val="6AB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66680" y="6711696"/>
            <a:ext cx="1741671" cy="146304"/>
          </a:xfrm>
          <a:prstGeom prst="rect">
            <a:avLst/>
          </a:prstGeom>
          <a:solidFill>
            <a:srgbClr val="E8C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08350" y="6711696"/>
            <a:ext cx="1741671" cy="146304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450020" y="6711696"/>
            <a:ext cx="1741671" cy="146304"/>
          </a:xfrm>
          <a:prstGeom prst="rect">
            <a:avLst/>
          </a:prstGeom>
          <a:solidFill>
            <a:srgbClr val="D9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总结与启示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1554480"/>
            <a:ext cx="10561320" cy="4297680"/>
          </a:xfrm>
          <a:prstGeom prst="roundRect">
            <a:avLst/>
          </a:prstGeom>
          <a:solidFill>
            <a:srgbClr val="1E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1828800"/>
            <a:ext cx="98755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8C81C"/>
                </a:solidFill>
                <a:latin typeface="微软雅黑"/>
                <a:ea typeface="微软雅黑"/>
                <a:cs typeface="微软雅黑"/>
              </a:rPr>
              <a:t>1.  色散不只是“成像的麻烦”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D4DBF0"/>
                </a:solidFill>
                <a:latin typeface="微软雅黑"/>
                <a:ea typeface="微软雅黑"/>
                <a:cs typeface="微软雅黑"/>
              </a:rPr>
              <a:t>     课本把色散主要当作要克服的缺陷；现代光学既能精确消除它，也能主动利用它。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2.  “消除”与“驾驭”，本质都是色散工程 (dispersion engineering)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D4DBF0"/>
                </a:solidFill>
                <a:latin typeface="微软雅黑"/>
                <a:ea typeface="微软雅黑"/>
                <a:cs typeface="微软雅黑"/>
              </a:rPr>
              <a:t>     文献一靠“色散匹配层”抹平色差；文献二靠“色散+耗散工程”稳定孤子。控制色散，是共同的核心能力。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3.  经典概念在前沿仍是基石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BF0"/>
                </a:solidFill>
                <a:latin typeface="微软雅黑"/>
                <a:ea typeface="微软雅黑"/>
                <a:cs typeface="微软雅黑"/>
              </a:rPr>
              <a:t>     正常/反常色散、群速度色散、色差……这些课本概念正是读懂 2024 年顶刊工作的钥匙。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9A1C"/>
                </a:solidFill>
                <a:latin typeface="微软雅黑"/>
                <a:ea typeface="微软雅黑"/>
                <a:cs typeface="微软雅黑"/>
              </a:rPr>
              <a:t>一句话：理解了色散，你就握住了从经典棱镜到片上光梳的同一根主线。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41671" cy="14630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41670" y="0"/>
            <a:ext cx="1741671" cy="146304"/>
          </a:xfrm>
          <a:prstGeom prst="rect">
            <a:avLst/>
          </a:prstGeom>
          <a:solidFill>
            <a:srgbClr val="3A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83340" y="0"/>
            <a:ext cx="1741671" cy="146304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25010" y="0"/>
            <a:ext cx="1741671" cy="146304"/>
          </a:xfrm>
          <a:prstGeom prst="rect">
            <a:avLst/>
          </a:prstGeom>
          <a:solidFill>
            <a:srgbClr val="6AB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66680" y="0"/>
            <a:ext cx="1741671" cy="146304"/>
          </a:xfrm>
          <a:prstGeom prst="rect">
            <a:avLst/>
          </a:prstGeom>
          <a:solidFill>
            <a:srgbClr val="E8C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08350" y="0"/>
            <a:ext cx="1741671" cy="146304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50020" y="0"/>
            <a:ext cx="1741671" cy="146304"/>
          </a:xfrm>
          <a:prstGeom prst="rect">
            <a:avLst/>
          </a:prstGeom>
          <a:solidFill>
            <a:srgbClr val="D9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46304"/>
            <a:ext cx="146304" cy="1225296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参考文献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389888"/>
            <a:ext cx="11155680" cy="25400"/>
          </a:xfrm>
          <a:prstGeom prst="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1783080"/>
            <a:ext cx="10972800" cy="1325880"/>
          </a:xfrm>
          <a:prstGeom prst="round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1783080"/>
            <a:ext cx="128016" cy="1325880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192024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[1]  全可见光消色差超透镜（文献一）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Achromatic metalenses for full visible spectrum with extended group delay control via dispersion-matched layers. Nature Communications, 2024.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https://www.nature.com/articles/s41467-024-53701-8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91840"/>
            <a:ext cx="10972800" cy="1325880"/>
          </a:xfrm>
          <a:prstGeom prst="round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291840"/>
            <a:ext cx="128016" cy="1325880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42900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[2]  色散/耗散工程化光孤子频率梳（文献二）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Y. Song, Y. Hu, X. Zhu, K. Yang, M. Lončar. Octave-spanning Kerr soliton frequency combs in dispersion- and dissipation-engineered lithium niobate microresonators. Light: Science &amp; Applications, 2024.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3A89E"/>
                </a:solidFill>
                <a:latin typeface="微软雅黑"/>
                <a:ea typeface="微软雅黑"/>
                <a:cs typeface="微软雅黑"/>
              </a:rPr>
              <a:t>https://www.nature.com/articles/s41377-024-01546-7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00600"/>
            <a:ext cx="10972800" cy="1325880"/>
          </a:xfrm>
          <a:prstGeom prst="round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800600"/>
            <a:ext cx="128016" cy="1325880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9377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1B41"/>
                </a:solidFill>
                <a:latin typeface="微软雅黑"/>
                <a:ea typeface="微软雅黑"/>
                <a:cs typeface="微软雅黑"/>
              </a:rPr>
              <a:t>[3]  课本知识点参考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《光学原理》/《现代光学基础》 第“光的吸收、色散与散射”章 —— 色散、色差、群速度色散等经典概念。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注：两篇均为 2024 年发表的开放获取顶刊文献，可按上方链接查阅原文与图表。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