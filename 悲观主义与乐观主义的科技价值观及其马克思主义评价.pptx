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48640"/>
            <a:ext cx="1280160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悲观主义与乐观主义的科技价值观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代表性思想及其马克思主义评价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3931920"/>
            <a:ext cx="3657600" cy="0"/>
          </a:xfrm>
          <a:prstGeom prst="line">
            <a:avLst/>
          </a:prstGeom>
          <a:ln w="317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41605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自然辩证法概论 · 个人作业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汇  报  人：________________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978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学       号：________________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3093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指导教师：________________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30936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2026 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目 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C O N T E N T 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828800"/>
            <a:ext cx="1600200" cy="0"/>
          </a:xfrm>
          <a:prstGeom prst="line">
            <a:avLst/>
          </a:prstGeom>
          <a:ln w="317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237744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引言：何谓科技价值观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37360" y="3017520"/>
            <a:ext cx="1463040" cy="0"/>
          </a:xfrm>
          <a:prstGeom prst="line">
            <a:avLst/>
          </a:prstGeom>
          <a:ln w="15240">
            <a:solidFill>
              <a:srgbClr val="B89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365760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7033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科技乐观主义的代表性思想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37360" y="4297680"/>
            <a:ext cx="1463040" cy="0"/>
          </a:xfrm>
          <a:prstGeom prst="line">
            <a:avLst/>
          </a:prstGeom>
          <a:ln w="15240">
            <a:solidFill>
              <a:srgbClr val="B89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493776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983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科技悲观主义的代表性思想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37360" y="5577840"/>
            <a:ext cx="1463040" cy="0"/>
          </a:xfrm>
          <a:prstGeom prst="line">
            <a:avLst/>
          </a:prstGeom>
          <a:ln w="15240">
            <a:solidFill>
              <a:srgbClr val="B89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0" y="237744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24231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马克思主义的科技价值观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98080" y="3017520"/>
            <a:ext cx="1463040" cy="0"/>
          </a:xfrm>
          <a:prstGeom prst="line">
            <a:avLst/>
          </a:prstGeom>
          <a:ln w="15240">
            <a:solidFill>
              <a:srgbClr val="B89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0" y="365760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37033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马克思主义对两种思潮的评价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98080" y="4297680"/>
            <a:ext cx="1463040" cy="0"/>
          </a:xfrm>
          <a:prstGeom prst="line">
            <a:avLst/>
          </a:prstGeom>
          <a:ln w="15240">
            <a:solidFill>
              <a:srgbClr val="B89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0" y="493776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4983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现实启示与结论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98080" y="5577840"/>
            <a:ext cx="1463040" cy="0"/>
          </a:xfrm>
          <a:prstGeom prst="line">
            <a:avLst/>
          </a:prstGeom>
          <a:ln w="15240">
            <a:solidFill>
              <a:srgbClr val="B89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一、引言：何谓科技价值观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Science-Technology Values: An Introduction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25880"/>
            <a:ext cx="1325880" cy="0"/>
          </a:xfrm>
          <a:prstGeom prst="line">
            <a:avLst/>
          </a:prstGeom>
          <a:ln w="317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01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科技价值观研究  ·  马克思主义视角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5486400" cy="210312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137160" cy="2103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概念界定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科技价值观，是人们对科学技术的本质、作用、意义及其与人和社会关系的根本看法和总体评价；它回答的是「科技对人类究竟意味着什么」这一根本性问题。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5486400" cy="210312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554480"/>
            <a:ext cx="137160" cy="210312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69164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两种对立倾向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9456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围绕近代以来的科技革命，思想界形成了「乐观主义」与「悲观主义」两大思潮：前者讴歌科技的解放力量，后者警惕科技的异化危险。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319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本课题需要回答的三个问题：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34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6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Q1：</a:t>
            </a:r>
            <a:r>
              <a:rPr sz="16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  科技乐观主义的代表性思想是什么？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6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Q2：</a:t>
            </a:r>
            <a:r>
              <a:rPr sz="16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  科技悲观主义的代表性思想是什么？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6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Q3：</a:t>
            </a:r>
            <a:r>
              <a:rPr sz="16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  如何运用马克思主义的科技价值观对两者作出评价？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二、科技乐观主义：概述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Technological Optimism: Overview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25880"/>
            <a:ext cx="1325880" cy="0"/>
          </a:xfrm>
          <a:prstGeom prst="line">
            <a:avLst/>
          </a:prstGeom>
          <a:ln w="317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02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科技价值观研究  ·  马克思主义视角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11247120" cy="118872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137160" cy="1188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459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7E22"/>
                </a:solidFill>
                <a:latin typeface="微软雅黑"/>
                <a:ea/>
                <a:rFonts eastAsia="微软雅黑" ascii="微软雅黑" hAnsi="微软雅黑"/>
              </a:rPr>
              <a:t>核心命题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科学技术是社会进步的根本动力，能够不断扩大人类的自由与福祉，最终带来理想社会的到来。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260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历史脉络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3383280"/>
            <a:ext cx="1325880" cy="0"/>
          </a:xfrm>
          <a:prstGeom prst="line">
            <a:avLst/>
          </a:prstGeom>
          <a:ln w="254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02920" y="3611880"/>
            <a:ext cx="2697480" cy="2377440"/>
          </a:xfrm>
          <a:prstGeom prst="rect">
            <a:avLst/>
          </a:prstGeom>
          <a:solidFill>
            <a:srgbClr val="FD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611880"/>
            <a:ext cx="2697480" cy="5486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65760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启蒙时期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5196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16-18 世纪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6344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培根、笛卡尔等高扬理性与科学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3611880"/>
            <a:ext cx="2697480" cy="2377440"/>
          </a:xfrm>
          <a:prstGeom prst="rect">
            <a:avLst/>
          </a:prstGeom>
          <a:solidFill>
            <a:srgbClr val="FD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3611880"/>
            <a:ext cx="2697480" cy="548640"/>
          </a:xfrm>
          <a:prstGeom prst="rect">
            <a:avLst/>
          </a:prstGeom>
          <a:solidFill>
            <a:srgbClr val="D3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365760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实证主义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25196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19 世纪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466344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圣西门、孔德主张科学治理社会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611880"/>
            <a:ext cx="2697480" cy="2377440"/>
          </a:xfrm>
          <a:prstGeom prst="rect">
            <a:avLst/>
          </a:prstGeom>
          <a:solidFill>
            <a:srgbClr val="FD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3611880"/>
            <a:ext cx="2697480" cy="548640"/>
          </a:xfrm>
          <a:prstGeom prst="rect">
            <a:avLst/>
          </a:prstGeom>
          <a:solidFill>
            <a:srgbClr val="B85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365760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工业时代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425196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20 世纪初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66344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对工业文明与技术进步的礼赞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3611880"/>
            <a:ext cx="2697480" cy="2377440"/>
          </a:xfrm>
          <a:prstGeom prst="rect">
            <a:avLst/>
          </a:prstGeom>
          <a:solidFill>
            <a:srgbClr val="FD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06840" y="3611880"/>
            <a:ext cx="2697480" cy="548640"/>
          </a:xfrm>
          <a:prstGeom prst="rect">
            <a:avLst/>
          </a:prstGeom>
          <a:solidFill>
            <a:srgbClr val="9E4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365760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信息时代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425196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20 世纪后期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466344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贝尔、托夫勒等预言后工业／信息文明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三、乐观主义的代表性思想（上）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Bacon · Saint-Simon · Comte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25880"/>
            <a:ext cx="1325880" cy="0"/>
          </a:xfrm>
          <a:prstGeom prst="line">
            <a:avLst/>
          </a:prstGeom>
          <a:ln w="317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03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科技价值观研究  ·  马克思主义视角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5486400" cy="484632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5486400" cy="10058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弗朗西斯 · 培根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Francis Bacon (1561-1626)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「知识就是力量」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3246120"/>
            <a:ext cx="2011680" cy="0"/>
          </a:xfrm>
          <a:prstGeom prst="line">
            <a:avLst/>
          </a:prstGeom>
          <a:ln w="19050">
            <a:solidFill>
              <a:srgbClr val="B89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3383280"/>
            <a:ext cx="49377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在《新工具》《新大西岛》中提出依靠科学实验认识自然、利用自然，构想了以科学技术为核心的理想国 ——「本撒勒姆岛」，开启近代科技乐观主义的先河。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554480"/>
            <a:ext cx="5486400" cy="484632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554480"/>
            <a:ext cx="5486400" cy="10058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69164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圣西门 / 孔德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19456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Saint-Simon · Auguste Comte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7432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「实证主义 · 科学主义」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29400" y="3246120"/>
            <a:ext cx="2011680" cy="0"/>
          </a:xfrm>
          <a:prstGeom prst="line">
            <a:avLst/>
          </a:prstGeom>
          <a:ln w="19050">
            <a:solidFill>
              <a:srgbClr val="B89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629400" y="3383280"/>
            <a:ext cx="49377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认为社会发展遵循从「神学—形而上学—实证」的规律；提倡由科学家与实业家治理社会，把科学方法推广到一切领域，相信科学能彻底解决社会问题。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三、乐观主义的代表性思想（下）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Bell · Toffler · Naisbitt · Kurzweil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25880"/>
            <a:ext cx="1325880" cy="0"/>
          </a:xfrm>
          <a:prstGeom prst="line">
            <a:avLst/>
          </a:prstGeom>
          <a:ln w="317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04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科技价值观研究  ·  马克思主义视角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5486400" cy="233172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137160" cy="2331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459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丹尼尔 · 贝尔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7E22"/>
                </a:solidFill>
                <a:latin typeface="微软雅黑"/>
                <a:ea/>
                <a:rFonts eastAsia="微软雅黑" ascii="微软雅黑" hAnsi="微软雅黑"/>
              </a:rPr>
              <a:t>《后工业社会的来临》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60320"/>
            <a:ext cx="4937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认为知识与理论科学已成为社会的「中轴原则」，技术进步将催生一个由专业技术阶级主导的、以服务业为主的后工业社会。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554480"/>
            <a:ext cx="5486400" cy="233172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554480"/>
            <a:ext cx="137160" cy="2331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6459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阿尔文 · 托夫勒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1488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7E22"/>
                </a:solidFill>
                <a:latin typeface="微软雅黑"/>
                <a:ea/>
                <a:rFonts eastAsia="微软雅黑" ascii="微软雅黑" hAnsi="微软雅黑"/>
              </a:rPr>
              <a:t>《第三次浪潮》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560320"/>
            <a:ext cx="4937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把人类文明划分为农业、工业、信息三次浪潮；认为以计算机和电信为代表的新技术革命，将塑造去中心化、个性化的崭新文明。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114800"/>
            <a:ext cx="5486400" cy="233172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114800"/>
            <a:ext cx="137160" cy="2331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约翰 · 奈斯比特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7E22"/>
                </a:solidFill>
                <a:latin typeface="微软雅黑"/>
                <a:ea/>
                <a:rFonts eastAsia="微软雅黑" ascii="微软雅黑" hAnsi="微软雅黑"/>
              </a:rPr>
              <a:t>《大趋势》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120640"/>
            <a:ext cx="4937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预言由工业社会向信息社会的全球转型，技术进步带来民主化、网络化、全球化等积极变化。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4114800"/>
            <a:ext cx="5486400" cy="233172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4114800"/>
            <a:ext cx="137160" cy="2331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2062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雷 · 库兹韦尔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7091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7E22"/>
                </a:solidFill>
                <a:latin typeface="微软雅黑"/>
                <a:ea/>
                <a:rFonts eastAsia="微软雅黑" ascii="微软雅黑" hAnsi="微软雅黑"/>
              </a:rPr>
              <a:t>《奇点临近》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5120640"/>
            <a:ext cx="4937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认为技术发展呈指数增长，2045 年前后将到达「技术奇点」，人工智能与人脑融合，人类将进入超级智能时代。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三、科技乐观主义的核心观点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Core Theses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25880"/>
            <a:ext cx="1325880" cy="0"/>
          </a:xfrm>
          <a:prstGeom prst="line">
            <a:avLst/>
          </a:prstGeom>
          <a:ln w="317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05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科技价值观研究  ·  马克思主义视角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1155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  <a:spcAft>
                <a:spcPts val="400"/>
              </a:spcAft>
            </a:pPr>
            <a:r>
              <a:rPr sz="18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8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技术决定论：</a:t>
            </a:r>
            <a:r>
              <a:rPr sz="18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  把科学技术视为推动历史发展的最终决定力量。</a:t>
            </a:r>
          </a:p>
          <a:p>
            <a:pPr algn="l">
              <a:lnSpc>
                <a:spcPct val="170000"/>
              </a:lnSpc>
              <a:spcAft>
                <a:spcPts val="400"/>
              </a:spcAft>
            </a:pPr>
            <a:r>
              <a:rPr sz="18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8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线性进步观：</a:t>
            </a:r>
            <a:r>
              <a:rPr sz="18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  认为科技与社会进步呈单向、累积、不可逆的发展。</a:t>
            </a:r>
          </a:p>
          <a:p>
            <a:pPr algn="l">
              <a:lnSpc>
                <a:spcPct val="170000"/>
              </a:lnSpc>
              <a:spcAft>
                <a:spcPts val="400"/>
              </a:spcAft>
            </a:pPr>
            <a:r>
              <a:rPr sz="18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8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理性万能论：</a:t>
            </a:r>
            <a:r>
              <a:rPr sz="18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  相信科学理性可以解决一切自然与社会问题。</a:t>
            </a:r>
          </a:p>
          <a:p>
            <a:pPr algn="l">
              <a:lnSpc>
                <a:spcPct val="170000"/>
              </a:lnSpc>
              <a:spcAft>
                <a:spcPts val="400"/>
              </a:spcAft>
            </a:pPr>
            <a:r>
              <a:rPr sz="18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8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乌托邦愿景：</a:t>
            </a:r>
            <a:r>
              <a:rPr sz="18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  把科技进步与人类幸福、自由、解放直接画等号。</a:t>
            </a:r>
          </a:p>
          <a:p>
            <a:pPr algn="l">
              <a:lnSpc>
                <a:spcPct val="170000"/>
              </a:lnSpc>
              <a:spcAft>
                <a:spcPts val="400"/>
              </a:spcAft>
            </a:pPr>
            <a:r>
              <a:rPr sz="18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8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增长无限论：</a:t>
            </a:r>
            <a:r>
              <a:rPr sz="18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  默认资源、生态、人的承受能力是无限的。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32120"/>
            <a:ext cx="11247120" cy="7772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623560"/>
            <a:ext cx="109728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总评：科技乐观主义高扬人的主体性与创造力，却往往把科技的社会效应抽象化、绝对化。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四、科技悲观主义：概述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Technological Pessimism: Overview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25880"/>
            <a:ext cx="1325880" cy="0"/>
          </a:xfrm>
          <a:prstGeom prst="line">
            <a:avLst/>
          </a:prstGeom>
          <a:ln w="317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06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科技价值观研究  ·  马克思主义视角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11247120" cy="118872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137160" cy="118872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459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4495E"/>
                </a:solidFill>
                <a:latin typeface="微软雅黑"/>
                <a:ea/>
                <a:rFonts eastAsia="微软雅黑" ascii="微软雅黑" hAnsi="微软雅黑"/>
              </a:rPr>
              <a:t>核心命题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科学技术内含异化与统治的逻辑，将摧毁自然、瓦解人性、危及人类的生存与意义。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260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历史脉络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3383280"/>
            <a:ext cx="1325880" cy="0"/>
          </a:xfrm>
          <a:prstGeom prst="line">
            <a:avLst/>
          </a:prstGeom>
          <a:ln w="2540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02920" y="3611880"/>
            <a:ext cx="2697480" cy="237744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611880"/>
            <a:ext cx="2697480" cy="548640"/>
          </a:xfrm>
          <a:prstGeom prst="rect">
            <a:avLst/>
          </a:prstGeom>
          <a:solidFill>
            <a:srgbClr val="4A6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65760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浪漫主义批判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5196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18 世纪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6344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卢梭批评科学艺术败坏道德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3611880"/>
            <a:ext cx="2697480" cy="237744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3611880"/>
            <a:ext cx="2697480" cy="548640"/>
          </a:xfrm>
          <a:prstGeom prst="rect">
            <a:avLst/>
          </a:prstGeom>
          <a:solidFill>
            <a:srgbClr val="3D5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365760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现代性反思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25196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20 世纪上半叶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466344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海德格尔追问技术的本质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611880"/>
            <a:ext cx="2697480" cy="237744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3611880"/>
            <a:ext cx="2697480" cy="548640"/>
          </a:xfrm>
          <a:prstGeom prst="rect">
            <a:avLst/>
          </a:prstGeom>
          <a:solidFill>
            <a:srgbClr val="304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365760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法兰克福学派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425196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20 世纪中叶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66344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工具理性与单向度的人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3611880"/>
            <a:ext cx="2697480" cy="237744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06840" y="3611880"/>
            <a:ext cx="2697480" cy="548640"/>
          </a:xfrm>
          <a:prstGeom prst="rect">
            <a:avLst/>
          </a:prstGeom>
          <a:solidFill>
            <a:srgbClr val="233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365760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生态主义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425196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20 世纪后期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466344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罗马俱乐部呼吁增长极限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四、悲观主义的代表性思想（上）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Rousseau · Heidegger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25880"/>
            <a:ext cx="1325880" cy="0"/>
          </a:xfrm>
          <a:prstGeom prst="line">
            <a:avLst/>
          </a:prstGeom>
          <a:ln w="317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07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科技价值观研究  ·  马克思主义视角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5486400" cy="484632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5486400" cy="100584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让-雅克 · 卢梭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Jean-Jacques Rousseau (1712-1778)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「科学与艺术败坏道德」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3337560"/>
            <a:ext cx="2011680" cy="0"/>
          </a:xfrm>
          <a:prstGeom prst="line">
            <a:avLst/>
          </a:prstGeom>
          <a:ln w="19050">
            <a:solidFill>
              <a:srgbClr val="B89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3474720"/>
            <a:ext cx="49377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在《论科学与艺术》中提出：科学技术的进步并未净化道德，反而使人远离自然本性、加深贫富分化、强化奢靡与虚荣，是科技悲观主义最早的系统表达。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554480"/>
            <a:ext cx="5486400" cy="484632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554480"/>
            <a:ext cx="5486400" cy="100584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69164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马丁 · 海德格尔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19456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Martin Heidegger (1889-1976)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74320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「技术之本质，乃是集置（Gestell）」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29400" y="3337560"/>
            <a:ext cx="2011680" cy="0"/>
          </a:xfrm>
          <a:prstGeom prst="line">
            <a:avLst/>
          </a:prstGeom>
          <a:ln w="19050">
            <a:solidFill>
              <a:srgbClr val="B89D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629400" y="3474720"/>
            <a:ext cx="49377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在《技术的追问》中区分「技术」与「技术之本质」：现代技术把万物（包括人）摆置为可被计算和支配的「持存物」，遮蔽了存在的真理，是最大的危险，也是「最高的危险」。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四、悲观主义的代表性思想（下）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Frankfurt School · Ellul · Mumford · Club of Rome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25880"/>
            <a:ext cx="1325880" cy="0"/>
          </a:xfrm>
          <a:prstGeom prst="line">
            <a:avLst/>
          </a:prstGeom>
          <a:ln w="317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08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科技价值观研究  ·  马克思主义视角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5486400" cy="233172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137160" cy="233172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459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法兰克福学派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4495E"/>
                </a:solidFill>
                <a:latin typeface="微软雅黑"/>
                <a:ea/>
                <a:rFonts eastAsia="微软雅黑" ascii="微软雅黑" hAnsi="微软雅黑"/>
              </a:rPr>
              <a:t>霍克海默、阿多诺、马尔库塞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60320"/>
            <a:ext cx="4937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《启蒙辩证法》《单向度的人》揭示：启蒙理性蜕变为工具理性；技术成为新的意识形态，把人塑造为缺乏批判维度的「单向度的人」。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554480"/>
            <a:ext cx="5486400" cy="233172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554480"/>
            <a:ext cx="137160" cy="233172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6459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雅克 · 埃吕尔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1488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4495E"/>
                </a:solidFill>
                <a:latin typeface="微软雅黑"/>
                <a:ea/>
                <a:rFonts eastAsia="微软雅黑" ascii="微软雅黑" hAnsi="微软雅黑"/>
              </a:rPr>
              <a:t>Jacques Ellul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560320"/>
            <a:ext cx="4937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《技术社会》提出技术具有自主性，已发展为支配一切领域的封闭系统；人不再使用技术，而是被技术所使用。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114800"/>
            <a:ext cx="5486400" cy="233172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114800"/>
            <a:ext cx="137160" cy="233172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刘易斯 · 芒福德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4495E"/>
                </a:solidFill>
                <a:latin typeface="微软雅黑"/>
                <a:ea/>
                <a:rFonts eastAsia="微软雅黑" ascii="微软雅黑" hAnsi="微软雅黑"/>
              </a:rPr>
              <a:t>Lewis Mumford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120640"/>
            <a:ext cx="4937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《机器的神话》区分「多元技术」与「巨型技术」；现代巨型机器把人变为零件，是对人性的根本压抑。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4114800"/>
            <a:ext cx="5486400" cy="233172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4114800"/>
            <a:ext cx="137160" cy="233172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2062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罗马俱乐部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7091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4495E"/>
                </a:solidFill>
                <a:latin typeface="微软雅黑"/>
                <a:ea/>
                <a:rFonts eastAsia="微软雅黑" ascii="微软雅黑" hAnsi="微软雅黑"/>
              </a:rPr>
              <a:t>《增长的极限》(1972)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5120640"/>
            <a:ext cx="4937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运用系统动力学模型预警：在资源、人口、污染等限制下，无限制的工业增长将导致全球性生态崩溃。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四、科技悲观主义的核心观点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Core Theses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25880"/>
            <a:ext cx="1325880" cy="0"/>
          </a:xfrm>
          <a:prstGeom prst="line">
            <a:avLst/>
          </a:prstGeom>
          <a:ln w="317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09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科技价值观研究  ·  马克思主义视角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1155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  <a:spcAft>
                <a:spcPts val="400"/>
              </a:spcAft>
            </a:pPr>
            <a:r>
              <a:rPr sz="1800" b="1">
                <a:solidFill>
                  <a:srgbClr val="34495E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8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反技术决定论的悖论：</a:t>
            </a:r>
            <a:r>
              <a:rPr sz="18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  在批判技术决定论的同时，又陷入「技术自主」的另一种决定论。</a:t>
            </a:r>
          </a:p>
          <a:p>
            <a:pPr algn="l">
              <a:lnSpc>
                <a:spcPct val="170000"/>
              </a:lnSpc>
              <a:spcAft>
                <a:spcPts val="400"/>
              </a:spcAft>
            </a:pPr>
            <a:r>
              <a:rPr sz="1800" b="1">
                <a:solidFill>
                  <a:srgbClr val="34495E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8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工具理性批判：</a:t>
            </a:r>
            <a:r>
              <a:rPr sz="18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  认为现代科技以效率与控制为旨归，压抑了价值理性。</a:t>
            </a:r>
          </a:p>
          <a:p>
            <a:pPr algn="l">
              <a:lnSpc>
                <a:spcPct val="170000"/>
              </a:lnSpc>
              <a:spcAft>
                <a:spcPts val="400"/>
              </a:spcAft>
            </a:pPr>
            <a:r>
              <a:rPr sz="1800" b="1">
                <a:solidFill>
                  <a:srgbClr val="34495E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8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异化与统治论：</a:t>
            </a:r>
            <a:r>
              <a:rPr sz="18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  科技不仅异化劳动，更异化人本身，成为新的统治形式。</a:t>
            </a:r>
          </a:p>
          <a:p>
            <a:pPr algn="l">
              <a:lnSpc>
                <a:spcPct val="170000"/>
              </a:lnSpc>
              <a:spcAft>
                <a:spcPts val="400"/>
              </a:spcAft>
            </a:pPr>
            <a:r>
              <a:rPr sz="1800" b="1">
                <a:solidFill>
                  <a:srgbClr val="34495E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8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生态危机论：</a:t>
            </a:r>
            <a:r>
              <a:rPr sz="18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  科技驱动的工业增长不可持续，必将引发生态崩溃。</a:t>
            </a:r>
          </a:p>
          <a:p>
            <a:pPr algn="l">
              <a:lnSpc>
                <a:spcPct val="170000"/>
              </a:lnSpc>
              <a:spcAft>
                <a:spcPts val="400"/>
              </a:spcAft>
            </a:pPr>
            <a:r>
              <a:rPr sz="1800" b="1">
                <a:solidFill>
                  <a:srgbClr val="34495E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8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意义丧失论：</a:t>
            </a:r>
            <a:r>
              <a:rPr sz="18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  科技世界遮蔽了人的本真存在，导致价值虚无与精神危机。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32120"/>
            <a:ext cx="11247120" cy="77724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623560"/>
            <a:ext cx="109728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总评：科技悲观主义揭示了科技的负面后果，却把这些后果归咎于科技本身，从而走向另一极端。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五、两种科技价值观的对比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Optimism vs. Pessimism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25880"/>
            <a:ext cx="1325880" cy="0"/>
          </a:xfrm>
          <a:prstGeom prst="line">
            <a:avLst/>
          </a:prstGeom>
          <a:ln w="317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10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科技价值观研究  ·  马克思主义视角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2468880" cy="621792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24688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比较维度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1600200"/>
            <a:ext cx="4389120" cy="62179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600200"/>
            <a:ext cx="43891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科技乐观主义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600200"/>
            <a:ext cx="4389120" cy="621792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1600200"/>
            <a:ext cx="43891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科技悲观主义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221992"/>
            <a:ext cx="2468880" cy="621792"/>
          </a:xfrm>
          <a:prstGeom prst="rect">
            <a:avLst/>
          </a:prstGeom>
          <a:solidFill>
            <a:srgbClr val="F8F5F0"/>
          </a:solidFill>
          <a:ln w="6350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221992"/>
            <a:ext cx="2468880" cy="62179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科技本质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2221992"/>
            <a:ext cx="4389120" cy="621792"/>
          </a:xfrm>
          <a:prstGeom prst="rect">
            <a:avLst/>
          </a:prstGeom>
          <a:solidFill>
            <a:srgbClr val="F8F5F0"/>
          </a:solidFill>
          <a:ln w="6350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2221992"/>
            <a:ext cx="4389120" cy="62179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解放力量、进步引擎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2221992"/>
            <a:ext cx="4389120" cy="621792"/>
          </a:xfrm>
          <a:prstGeom prst="rect">
            <a:avLst/>
          </a:prstGeom>
          <a:solidFill>
            <a:srgbClr val="F8F5F0"/>
          </a:solidFill>
          <a:ln w="6350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2221992"/>
            <a:ext cx="4389120" cy="62179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异化力量、统治装置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843784"/>
            <a:ext cx="24688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843784"/>
            <a:ext cx="2468880" cy="62179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社会效应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71800" y="2843784"/>
            <a:ext cx="4389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80" y="2843784"/>
            <a:ext cx="4389120" cy="62179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自动带来福祉与自由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20" y="2843784"/>
            <a:ext cx="4389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2843784"/>
            <a:ext cx="4389120" cy="62179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必然带来奴役与危机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465576"/>
            <a:ext cx="2468880" cy="621792"/>
          </a:xfrm>
          <a:prstGeom prst="rect">
            <a:avLst/>
          </a:prstGeom>
          <a:solidFill>
            <a:srgbClr val="F8F5F0"/>
          </a:solidFill>
          <a:ln w="6350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465576"/>
            <a:ext cx="2468880" cy="62179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人与科技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71800" y="3465576"/>
            <a:ext cx="4389120" cy="621792"/>
          </a:xfrm>
          <a:prstGeom prst="rect">
            <a:avLst/>
          </a:prstGeom>
          <a:solidFill>
            <a:srgbClr val="F8F5F0"/>
          </a:solidFill>
          <a:ln w="6350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4680" y="3465576"/>
            <a:ext cx="4389120" cy="62179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人是科技的主人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60920" y="3465576"/>
            <a:ext cx="4389120" cy="621792"/>
          </a:xfrm>
          <a:prstGeom prst="rect">
            <a:avLst/>
          </a:prstGeom>
          <a:solidFill>
            <a:srgbClr val="F8F5F0"/>
          </a:solidFill>
          <a:ln w="6350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43800" y="3465576"/>
            <a:ext cx="4389120" cy="62179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人被科技所支配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087368"/>
            <a:ext cx="24688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087368"/>
            <a:ext cx="2468880" cy="62179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发展趋势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71800" y="4087368"/>
            <a:ext cx="4389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4680" y="4087368"/>
            <a:ext cx="4389120" cy="62179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线性、累积、向上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60920" y="4087368"/>
            <a:ext cx="4389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43800" y="4087368"/>
            <a:ext cx="4389120" cy="62179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失控、不可持续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709160"/>
            <a:ext cx="2468880" cy="621792"/>
          </a:xfrm>
          <a:prstGeom prst="rect">
            <a:avLst/>
          </a:prstGeom>
          <a:solidFill>
            <a:srgbClr val="F8F5F0"/>
          </a:solidFill>
          <a:ln w="6350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709160"/>
            <a:ext cx="2468880" cy="62179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方法论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71800" y="4709160"/>
            <a:ext cx="4389120" cy="621792"/>
          </a:xfrm>
          <a:prstGeom prst="rect">
            <a:avLst/>
          </a:prstGeom>
          <a:solidFill>
            <a:srgbClr val="F8F5F0"/>
          </a:solidFill>
          <a:ln w="6350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54680" y="4709160"/>
            <a:ext cx="4389120" cy="62179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形而上学的肯定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60920" y="4709160"/>
            <a:ext cx="4389120" cy="621792"/>
          </a:xfrm>
          <a:prstGeom prst="rect">
            <a:avLst/>
          </a:prstGeom>
          <a:solidFill>
            <a:srgbClr val="F8F5F0"/>
          </a:solidFill>
          <a:ln w="6350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43800" y="4709160"/>
            <a:ext cx="4389120" cy="62179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形而上学的否定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330952"/>
            <a:ext cx="24688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5330952"/>
            <a:ext cx="2468880" cy="62179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共同缺陷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71800" y="5330952"/>
            <a:ext cx="4389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54680" y="5330952"/>
            <a:ext cx="4389120" cy="62179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脱离社会制度抽象谈论科技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60920" y="5330952"/>
            <a:ext cx="4389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43800" y="5330952"/>
            <a:ext cx="4389120" cy="62179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只见科技、不见生产关系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六、马克思主义的科技价值观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Marxist View on Science &amp; Technology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25880"/>
            <a:ext cx="1325880" cy="0"/>
          </a:xfrm>
          <a:prstGeom prst="line">
            <a:avLst/>
          </a:prstGeom>
          <a:ln w="317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11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科技价值观研究  ·  马克思主义视角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11247120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「科学技术是第一生产力。」  ——  邓小平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「资本主义生产第一次把自然科学置于直接生产过程的服务之中。」  ——  马克思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06040"/>
            <a:ext cx="5486400" cy="178308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606040"/>
            <a:ext cx="137160" cy="1783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83464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346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生产力论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474720"/>
            <a:ext cx="4937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科技是推动生产力发展的革命性力量，是人类改造自然、解放自身的根本手段。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2606040"/>
            <a:ext cx="5486400" cy="178308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2606040"/>
            <a:ext cx="137160" cy="1783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20840" y="283464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8346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二重性论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474720"/>
            <a:ext cx="4937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在资本主义制度下，科技既是解放力量，又被资本利用为剥削、异化和统治的工具。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526280"/>
            <a:ext cx="5486400" cy="178308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526280"/>
            <a:ext cx="137160" cy="1783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8680" y="475488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75488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社会建构论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394960"/>
            <a:ext cx="4937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科技不是脱离社会的中立力量，其方向与后果受生产关系、阶级利益、国家制度制约。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4526280"/>
            <a:ext cx="5486400" cy="178308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4526280"/>
            <a:ext cx="137160" cy="1783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20840" y="475488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75488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以人为本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394960"/>
            <a:ext cx="4937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科技进步的根本目的，是促进人的自由全面发展，而不是相反；技术批判最终是制度批判。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七、马克思主义对乐观主义的评价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Critique of Technological Optimism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25880"/>
            <a:ext cx="1325880" cy="0"/>
          </a:xfrm>
          <a:prstGeom prst="line">
            <a:avLst/>
          </a:prstGeom>
          <a:ln w="317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12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科技价值观研究  ·  马克思主义视角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5486400" cy="475488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5486400" cy="548640"/>
          </a:xfrm>
          <a:prstGeom prst="rect">
            <a:avLst/>
          </a:prstGeom>
          <a:solidFill>
            <a:srgbClr val="2E8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✓  合理性 · 可肯定之处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49377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400" b="1">
                <a:solidFill>
                  <a:srgbClr val="2E864F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4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肯定了科学技术作为生产力的革命性作用，与马克思主义「科技是第一生产力」相通。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400" b="1">
                <a:solidFill>
                  <a:srgbClr val="2E864F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4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凸显了人的主体性、能动性与创造能力。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400" b="1">
                <a:solidFill>
                  <a:srgbClr val="2E864F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4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鼓舞人类积极利用科技解决现实问题，推动文明的不断进步。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5486400" cy="475488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554480"/>
            <a:ext cx="548640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554480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✗  局限性 · 应批判之处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286000"/>
            <a:ext cx="49377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4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陷入技术决定论，把科技抽象为脱离社会关系的独立力量。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4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回避资本主义生产关系对科技的支配，掩盖了科技异化的制度根源。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4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忽视科技发展的代价：生态破坏、贫富分化、新型不平等等。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4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把科技进步等同于人的解放，混淆了「物的发展」与「人的发展」。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00800"/>
            <a:ext cx="11247120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七、马克思主义对悲观主义的评价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Critique of Technological Pessimism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25880"/>
            <a:ext cx="1325880" cy="0"/>
          </a:xfrm>
          <a:prstGeom prst="line">
            <a:avLst/>
          </a:prstGeom>
          <a:ln w="317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13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科技价值观研究  ·  马克思主义视角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5486400" cy="475488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5486400" cy="548640"/>
          </a:xfrm>
          <a:prstGeom prst="rect">
            <a:avLst/>
          </a:prstGeom>
          <a:solidFill>
            <a:srgbClr val="2E8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✓  合理性 · 可肯定之处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49377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400" b="1">
                <a:solidFill>
                  <a:srgbClr val="2E864F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4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深刻揭示了科技在资本主义条件下的异化现象，与马克思的异化劳动思想存在共鸣。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400" b="1">
                <a:solidFill>
                  <a:srgbClr val="2E864F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4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警示人类反思工具理性的霸权，关注人的价值理性与精神世界。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400" b="1">
                <a:solidFill>
                  <a:srgbClr val="2E864F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4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促使社会正视科技的生态、伦理与社会风险，推动可持续发展观念的形成。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5486400" cy="475488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554480"/>
            <a:ext cx="548640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554480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✗  局限性 · 应批判之处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286000"/>
            <a:ext cx="49377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4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把科技异化的根源归于科技本身，未抓住资本主义生产关系这一真正病灶。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4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倾向于把科技实体化、神秘化，陷入「技术自主」的形而上学。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4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对科技进步的全盘否定，易滑向反现代化、反工业化的历史虚无主义。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4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缺乏现实可行的解决方案，对劳动人民的解放缺乏指导意义。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00800"/>
            <a:ext cx="11247120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八、现实启示与结论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Implications &amp; Conclusion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25880"/>
            <a:ext cx="1325880" cy="0"/>
          </a:xfrm>
          <a:prstGeom prst="line">
            <a:avLst/>
          </a:prstGeom>
          <a:ln w="317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14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科技价值观研究  ·  马克思主义视角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11247120" cy="12801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核心结论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乐观主义与悲观主义都是对科技的「片面真理」。唯有站在马克思主义的立场上——把科技放回到社会生产关系中考察，才能超越二者的对立。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017520"/>
            <a:ext cx="5486400" cy="160020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017520"/>
            <a:ext cx="457200" cy="160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83280"/>
            <a:ext cx="365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2004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辩证看待科技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749040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既肯定科技进步的伟大意义，又警惕其异化风险。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3017520"/>
            <a:ext cx="5486400" cy="160020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3017520"/>
            <a:ext cx="457200" cy="160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383280"/>
            <a:ext cx="365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2004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制度比技术更根本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749040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解决科技负面问题的根本途径是变革不合理的社会制度。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709160"/>
            <a:ext cx="5486400" cy="160020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709160"/>
            <a:ext cx="457200" cy="160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074920"/>
            <a:ext cx="365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8920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坚持以人民为中心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440680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科技发展应服务于人的自由全面发展，而非资本增殖。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4709160"/>
            <a:ext cx="5486400" cy="160020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4709160"/>
            <a:ext cx="457200" cy="160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074920"/>
            <a:ext cx="365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8920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走可持续发展之路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5440680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处理好科技、人、自然三者的辩证关系，构建人与自然生命共同体。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C3E50"/>
                </a:solidFill>
                <a:latin typeface="微软雅黑"/>
                <a:ea/>
                <a:rFonts eastAsia="微软雅黑" ascii="微软雅黑" hAnsi="微软雅黑"/>
              </a:rPr>
              <a:t>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References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25880"/>
            <a:ext cx="1325880" cy="0"/>
          </a:xfrm>
          <a:prstGeom prst="line">
            <a:avLst/>
          </a:prstGeom>
          <a:ln w="317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15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微软雅黑"/>
                <a:ea/>
                <a:rFonts eastAsia="微软雅黑" ascii="微软雅黑" hAnsi="微软雅黑"/>
              </a:rPr>
              <a:t>科技价值观研究  ·  马克思主义视角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4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[1]  马克思.  资本论（第一卷）[M].  北京：人民出版社，2004.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4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[2]  马克思，恩格斯.  马克思恩格斯文集（1—10卷）[M].  北京：人民出版社，2009.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4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[3]  邓小平.  邓小平文选（第三卷）[M].  北京：人民出版社，1993.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4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[4]  海德格尔.  演讲与论文集[M].  孙周兴 译.  北京：商务印书馆，2018.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4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[5]  马尔库塞.  单向度的人[M].  刘继 译.  上海：上海译文出版社，2008.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4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[6]  阿尔文 · 托夫勒.  第三次浪潮[M].  黄明坚 译.  北京：中信出版社，2018.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4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[7]  丹尼斯 · 米都斯.  增长的极限[M].  李宝恒 译.  长春：吉林人民出版社，1997.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4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[8]  陈昌曙.  技术哲学引论[M].  北京：科学出版社，2012.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微软雅黑"/>
                <a:ea/>
                <a:rFonts eastAsia="微软雅黑" ascii="微软雅黑" hAnsi="微软雅黑"/>
              </a:rPr>
              <a:t>■  </a:t>
            </a:r>
            <a:r>
              <a:rPr sz="1400" b="0">
                <a:solidFill>
                  <a:srgbClr val="1C1C1C"/>
                </a:solidFill>
                <a:latin typeface="微软雅黑"/>
                <a:ea/>
                <a:rFonts eastAsia="微软雅黑" ascii="微软雅黑" hAnsi="微软雅黑"/>
              </a:rPr>
              <a:t>[9]  吴国盛.  科学的历程[M].  长沙：湖南科学技术出版社，2018.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9456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微软雅黑"/>
                <a:ea/>
                <a:rFonts eastAsia="微软雅黑" ascii="微软雅黑" hAnsi="微软雅黑"/>
              </a:rPr>
              <a:t>T H A N K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20440"/>
            <a:ext cx="121916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F8F5F0"/>
                </a:solidFill>
                <a:latin typeface="微软雅黑"/>
                <a:ea/>
                <a:rFonts eastAsia="微软雅黑" ascii="微软雅黑" hAnsi="微软雅黑"/>
              </a:rPr>
              <a:t>感谢聆听  ·  敬请批评指正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B89D6E"/>
                </a:solidFill>
                <a:latin typeface="微软雅黑"/>
                <a:ea/>
                <a:rFonts eastAsia="微软雅黑" ascii="微软雅黑" hAnsi="微软雅黑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