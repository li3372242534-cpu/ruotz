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R&amp;D / GDP %</c:v>
                </c:pt>
              </c:strCache>
            </c:strRef>
          </c:tx>
          <c:spPr>
            <a:solidFill>
              <a:srgbClr val="1F3A68"/>
            </a:solidFill>
          </c:spPr>
          <c:dPt>
            <c:idx val="5"/>
            <c:invertIfNegative val="0"/>
            <c:bubble3D val="0"/>
            <c:spPr>
              <a:solidFill>
                <a:srgbClr val="FF8C42"/>
              </a:solidFill>
            </c:spPr>
          </c:dPt>
          <c:cat>
            <c:strRef>
              <c:f>Sheet1!$A$2:$A$8</c:f>
              <c:strCache>
                <c:ptCount val="7"/>
                <c:pt idx="0">
                  <c:v>以色列</c:v>
                </c:pt>
                <c:pt idx="1">
                  <c:v>韩国</c:v>
                </c:pt>
                <c:pt idx="2">
                  <c:v>美国</c:v>
                </c:pt>
                <c:pt idx="3">
                  <c:v>日本</c:v>
                </c:pt>
                <c:pt idx="4">
                  <c:v>德国</c:v>
                </c:pt>
                <c:pt idx="5">
                  <c:v>中国</c:v>
                </c:pt>
                <c:pt idx="6">
                  <c:v>OECD均值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5.56</c:v>
                </c:pt>
                <c:pt idx="1">
                  <c:v>4.93</c:v>
                </c:pt>
                <c:pt idx="2">
                  <c:v>3.46</c:v>
                </c:pt>
                <c:pt idx="3">
                  <c:v>3.3</c:v>
                </c:pt>
                <c:pt idx="4">
                  <c:v>3.13</c:v>
                </c:pt>
                <c:pt idx="5">
                  <c:v>2.64</c:v>
                </c:pt>
                <c:pt idx="6">
                  <c:v>2.71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1F3A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2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457200"/>
            <a:ext cx="1463040" cy="1463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12801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影响科学发展的社会因素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及促进我国科技进步的路径思考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D6E6"/>
                </a:solidFill>
                <a:latin typeface="Calibri"/>
                <a:eastAsia/>
                <a:rFonts eastAsia="Calibri" ascii="Calibri" hAnsi="Calibri"/>
              </a:rPr>
              <a:t>Social Factors in Scientific Development &amp; Pathways to Advance China's Sci-Tech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《科技观》课程  |  个人作业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D6E6"/>
                </a:solidFill>
                <a:latin typeface="微软雅黑"/>
                <a:eastAsia/>
                <a:rFonts eastAsia="微软雅黑" ascii="微软雅黑" hAnsi="微软雅黑"/>
              </a:rPr>
              <a:t>姓    名：____________     学    号：____________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D6E6"/>
                </a:solidFill>
                <a:latin typeface="微软雅黑"/>
                <a:eastAsia/>
                <a:rFonts eastAsia="微软雅黑" ascii="微软雅黑" hAnsi="微软雅黑"/>
              </a:rPr>
              <a:t>指导教师：____________     日    期：2026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引言：为什么研究这个问题？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"科学不是孤立的知识体系，而是镶嵌在社会之中的实践活动。"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—— 贝尔纳《科学的社会功能》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35661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3566160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不只是个人努力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310896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科学发展不只取决于科学家个人的天才与勤奋，</a:t>
            </a:r>
          </a:p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还深深嵌入社会结构与历史条件之中。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3017520"/>
            <a:ext cx="35661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3017520"/>
            <a:ext cx="3566160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063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科学是社会建制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657600"/>
            <a:ext cx="310896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现代科学已成为庞大的社会建制：科研机构、</a:t>
            </a:r>
          </a:p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资助体系、人才培养、传播评价共同构成生态。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3017520"/>
            <a:ext cx="35661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3017520"/>
            <a:ext cx="3566160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3063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现实意义重大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3657600"/>
            <a:ext cx="310896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中美科技博弈、第四次工业革命背景下，</a:t>
            </a:r>
          </a:p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研究'社会因素 → 科技发展'机制具有迫切意义。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▶ 本作业从社会学视角出发，分析多重因素并提出促进我国科技进步的对策建议。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9" name="Connector 18"/>
          <p:cNvCxnSpPr/>
          <p:nvPr/>
        </p:nvCxnSpPr>
        <p:spPr>
          <a:xfrm flipH="1">
            <a:off x="3714048" y="3291840"/>
            <a:ext cx="2138112" cy="1234439"/>
          </a:xfrm>
          <a:prstGeom prst="line">
            <a:avLst/>
          </a:prstGeom>
          <a:ln w="1905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52160" y="3291840"/>
            <a:ext cx="0" cy="2468880"/>
          </a:xfrm>
          <a:prstGeom prst="line">
            <a:avLst/>
          </a:prstGeom>
          <a:ln w="1905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52160" y="3291840"/>
            <a:ext cx="2138112" cy="1234439"/>
          </a:xfrm>
          <a:prstGeom prst="line">
            <a:avLst/>
          </a:prstGeom>
          <a:ln w="1905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852160" y="2057401"/>
            <a:ext cx="2138112" cy="1234439"/>
          </a:xfrm>
          <a:prstGeom prst="line">
            <a:avLst/>
          </a:prstGeom>
          <a:ln w="1905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852160" y="822960"/>
            <a:ext cx="0" cy="2468880"/>
          </a:xfrm>
          <a:prstGeom prst="line">
            <a:avLst/>
          </a:prstGeom>
          <a:ln w="1905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3714048" y="2057401"/>
            <a:ext cx="2138112" cy="1234439"/>
          </a:xfrm>
          <a:prstGeom prst="line">
            <a:avLst/>
          </a:prstGeom>
          <a:ln w="1905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第一部分  社会因素总览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Overview of Social Factors Influencing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37760" y="2377440"/>
            <a:ext cx="1828800" cy="1828800"/>
          </a:xfrm>
          <a:prstGeom prst="ellipse">
            <a:avLst/>
          </a:prstGeom>
          <a:solidFill>
            <a:srgbClr val="1F3A68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科学发展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8208" y="1623061"/>
            <a:ext cx="2011680" cy="8686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政治制度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政策导向 / 战略支持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88620"/>
            <a:ext cx="2011680" cy="8686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经济基础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投入能力 / 市场需求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4432" y="1623061"/>
            <a:ext cx="2011680" cy="8686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教育体系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人才培养 / 知识传播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4432" y="4091939"/>
            <a:ext cx="2011680" cy="8686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文化传统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科学精神 / 公众素养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5326380"/>
            <a:ext cx="2011680" cy="8686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国际环境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合作交流 / 技术封锁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08208" y="4091939"/>
            <a:ext cx="2011680" cy="8686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法律军事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知识产权 / 重大需求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▶ 科学发展是政治、经济、教育、文化、国际、法律军事等多重社会因素相互作用的结果。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① 政治制度与科技政策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Political System &amp; Sci-Tech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926080" cy="44805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6517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典型案例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两弹一星精神：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热爱祖国、无私奉献、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自力更生、艰苦奋斗、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大力协同、勇于登攀。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体现了国家战略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对科技发展的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决定性作用。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核心要点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194560"/>
            <a:ext cx="731520" cy="20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6200" y="23317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1343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政治稳定是科学持续发展的前提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战乱、动荡常使科研中断；和平稳定的环境是科学家专注研究的基础。</a:t>
            </a:r>
          </a:p>
        </p:txBody>
      </p:sp>
      <p:sp>
        <p:nvSpPr>
          <p:cNvPr id="16" name="Oval 15"/>
          <p:cNvSpPr/>
          <p:nvPr/>
        </p:nvSpPr>
        <p:spPr>
          <a:xfrm>
            <a:off x="3886200" y="32918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7355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国家战略决定资源流向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6576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曼哈顿计划、阿波罗工程、两弹一星——重大战略集中调动全国资源攻关。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425196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3367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具体科技政策塑造创新生态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研发税收优惠、国家重点实验室、人才计划、专项基金等政策工具。</a:t>
            </a:r>
          </a:p>
        </p:txBody>
      </p:sp>
      <p:sp>
        <p:nvSpPr>
          <p:cNvPr id="22" name="Oval 21"/>
          <p:cNvSpPr/>
          <p:nvPr/>
        </p:nvSpPr>
        <p:spPr>
          <a:xfrm>
            <a:off x="3886200" y="521208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19379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反例：政治不当干预科学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577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苏联李森科事件——政治干预导致遗传学倒退数十年，是深刻教训。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② 经济发展水平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Economic Development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核心要点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731520" cy="20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3317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1343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经济基础决定科研投入能力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517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全球 R&amp;D 经费 70% 以上集中于美、中、日、德等经济强国。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735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市场需求牵引技术方向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蒸汽机源于矿山排水需求；互联网兴起于信息共享需求。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2519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33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产业结构反向塑造研究方向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5720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制造业升级 → 倒逼基础研究；金融发达 → 推动量化与算法研究。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2120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937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中国数据：投入持续增长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321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2023 年我国 R&amp;D 经费 3.3 万亿元，占 GDP 2.64%。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主要国家 R&amp;D 经费占 GDP 比重 (%)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583680" y="2103120"/>
          <a:ext cx="51206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583680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数据来源：OECD Main Science and Technology Indicators (2023)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③ 教育体系与人才结构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Education System &amp; Talent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926080" cy="44805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6517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钱学森之问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2005 年钱学森向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温家宝总理发问：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'为什么我们的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学校总是培养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不出杰出人才？'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直指中国教育与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科研体制深层问题。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核心要点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194560"/>
            <a:ext cx="731520" cy="20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6200" y="23317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1343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教育是科学的'再生产机制'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没有持续的高质量教育，就没有源源不断的科研后备力量。</a:t>
            </a:r>
          </a:p>
        </p:txBody>
      </p:sp>
      <p:sp>
        <p:nvSpPr>
          <p:cNvPr id="16" name="Oval 15"/>
          <p:cNvSpPr/>
          <p:nvPr/>
        </p:nvSpPr>
        <p:spPr>
          <a:xfrm>
            <a:off x="3886200" y="32918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7355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规模与质量同样重要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6576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我国高等教育毛入学率已超 60%，但顶尖创新人才仍显不足。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425196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3367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创新型 vs 应试型培养方式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应试教育压抑好奇心；创新教育鼓励质疑、探究与跨学科融合。</a:t>
            </a:r>
          </a:p>
        </p:txBody>
      </p:sp>
      <p:sp>
        <p:nvSpPr>
          <p:cNvPr id="22" name="Oval 21"/>
          <p:cNvSpPr/>
          <p:nvPr/>
        </p:nvSpPr>
        <p:spPr>
          <a:xfrm>
            <a:off x="3886200" y="521208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19379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钱学森之问的警示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577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'为什么我们的学校总是培养不出杰出人才？'值得深思与改革。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④ 文化传统与社会观念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Cultural Tradition &amp; Social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926080" cy="44805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6517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李约瑟难题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英国学者李约瑟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提出：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古代中国科技长期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领先世界，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为什么近代科学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却诞生于欧洲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而非中国？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是科技史经典命题。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核心要点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194560"/>
            <a:ext cx="731520" cy="20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6200" y="23317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1343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科学精神四要素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怀疑精神、实证态度、理性思维、自由探讨——现代科学的基石。</a:t>
            </a:r>
          </a:p>
        </p:txBody>
      </p:sp>
      <p:sp>
        <p:nvSpPr>
          <p:cNvPr id="16" name="Oval 15"/>
          <p:cNvSpPr/>
          <p:nvPr/>
        </p:nvSpPr>
        <p:spPr>
          <a:xfrm>
            <a:off x="3886200" y="32918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7355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中国传统文化的双重影响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6576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重'经世致用'促进了应用技术，但缺乏纯粹科学的形而上传统。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425196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3367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李约瑟难题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为何近代科学没有在中国诞生？文化、制度、经济综合作用的结果。</a:t>
            </a:r>
          </a:p>
        </p:txBody>
      </p:sp>
      <p:sp>
        <p:nvSpPr>
          <p:cNvPr id="22" name="Oval 21"/>
          <p:cNvSpPr/>
          <p:nvPr/>
        </p:nvSpPr>
        <p:spPr>
          <a:xfrm>
            <a:off x="3886200" y="521208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19379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公众科学素养：14.14% → 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577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2023 年我国公民科学素质比例 14.14%，'十四五'目标达 15%。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⑤ 国际环境与科技交流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International Environment &amp; Sci-Tech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926080" cy="44805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6517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中美科技博弈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2018 年起，美国对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华为、中兴等企业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实施技术封锁。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半导体、AI、生物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科技成为博弈焦点。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倒逼我国走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'科技自立自强'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之路。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核心要点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194560"/>
            <a:ext cx="731520" cy="20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6200" y="23317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1343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科学是世界性事业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全球化时代，重大科学突破往往依赖跨国合作与开放交流。</a:t>
            </a:r>
          </a:p>
        </p:txBody>
      </p:sp>
      <p:sp>
        <p:nvSpPr>
          <p:cNvPr id="16" name="Oval 15"/>
          <p:cNvSpPr/>
          <p:nvPr/>
        </p:nvSpPr>
        <p:spPr>
          <a:xfrm>
            <a:off x="3886200" y="32918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7355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国际合作加速发现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6576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CERN 大型强子对撞机、ITER 国际热核聚变、人类基因组计划。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425196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3367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技术封锁阻碍发展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光刻机、EDA 软件、AI 芯片等领域的出口管制对我国形成压力。</a:t>
            </a:r>
          </a:p>
        </p:txBody>
      </p:sp>
      <p:sp>
        <p:nvSpPr>
          <p:cNvPr id="22" name="Oval 21"/>
          <p:cNvSpPr/>
          <p:nvPr/>
        </p:nvSpPr>
        <p:spPr>
          <a:xfrm>
            <a:off x="3886200" y="521208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19379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人才国际流动的双刃剑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577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既是引进顶尖智力的机遇，也面临核心人才外流的挑战。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⑥ 其他重要社会因素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Other Important Social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463040" cy="5029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因素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783080"/>
            <a:ext cx="3840480" cy="5029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作用机制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783080"/>
            <a:ext cx="3657600" cy="5029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典型案例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783080"/>
            <a:ext cx="1920240" cy="5029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影响方向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146304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微软雅黑"/>
              </a:rPr>
              <a:t>法律制度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286000"/>
            <a:ext cx="384048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知识产权保护激励创新；反垄断维护公平竞争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286000"/>
            <a:ext cx="365760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美国 1980 年《拜杜法案》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92024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2EA87E"/>
                </a:solidFill>
                <a:latin typeface="微软雅黑"/>
              </a:rPr>
              <a:t>正向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1463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微软雅黑"/>
              </a:rPr>
              <a:t>军事需求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3063240"/>
            <a:ext cx="3840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国防战略需求催生重大基础研究与工程突破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063240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互联网起源于美国 ARPANET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3063240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2EA87E"/>
                </a:solidFill>
                <a:latin typeface="微软雅黑"/>
              </a:rPr>
              <a:t>正向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146304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微软雅黑"/>
              </a:rPr>
              <a:t>宗教伦理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3840480"/>
            <a:ext cx="384048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既可促进（如新教伦理），也可压制（如教会审判）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840480"/>
            <a:ext cx="365760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哥白尼日心说受教会压制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3840480"/>
            <a:ext cx="192024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8C42"/>
                </a:solidFill>
                <a:latin typeface="微软雅黑"/>
              </a:rPr>
              <a:t>双向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1463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微软雅黑"/>
              </a:rPr>
              <a:t>媒体传播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4617720"/>
            <a:ext cx="3840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影响公众认知、舆论与政策走向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617720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转基因、核能争议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4617720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8C42"/>
                </a:solidFill>
                <a:latin typeface="微软雅黑"/>
              </a:rPr>
              <a:t>双向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94960"/>
            <a:ext cx="146304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微软雅黑"/>
              </a:rPr>
              <a:t>人口结构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5394960"/>
            <a:ext cx="384048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人口规模与年龄结构影响科研后备与市场规模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5394960"/>
            <a:ext cx="365760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</a:rPr>
              <a:t>少子化对日本科研的长期影响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5394960"/>
            <a:ext cx="1920240" cy="777240"/>
          </a:xfrm>
          <a:prstGeom prst="rect">
            <a:avLst/>
          </a:prstGeom>
          <a:solidFill>
            <a:srgbClr val="E8EF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8C42"/>
                </a:solidFill>
                <a:latin typeface="微软雅黑"/>
              </a:rPr>
              <a:t>双向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▶ 各类社会因素相互交织、共同作用，构成科学发展的复杂社会网络。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第二部分  促进我国科技进步的战略路径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Strategic Pathways for China's Sci-Tech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战略目标：实现高水平科技自立自强（党的二十大报告）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640080" cy="16916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640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  <a:eastAsia/>
                <a:rFonts eastAsia="Arial Black" ascii="Arial Black" hAnsi="Arial Black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3464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加大研发投入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91840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提升基础研究占比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建设国家实验室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6974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697480"/>
            <a:ext cx="640080" cy="16916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697480"/>
            <a:ext cx="640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  <a:eastAsia/>
                <a:rFonts eastAsia="Arial Black" ascii="Arial Black" hAnsi="Arial Black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83464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改革教育体系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3291840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培养创新型人才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推动 STEM 教育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26974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697480"/>
            <a:ext cx="640080" cy="16916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2697480"/>
            <a:ext cx="640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  <a:eastAsia/>
                <a:rFonts eastAsia="Arial Black" ascii="Arial Black" hAnsi="Arial Black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83464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深化体制改革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3291840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破'四唯'评价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扩大经费自主权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53712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553712"/>
            <a:ext cx="640080" cy="16916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53712"/>
            <a:ext cx="640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  <a:eastAsia/>
                <a:rFonts eastAsia="Arial Black" ascii="Arial Black" hAnsi="Arial Black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69087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营造创新文化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48072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弘扬科学家精神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提升科学素养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5112" y="4553712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5112" y="4553712"/>
            <a:ext cx="640080" cy="16916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4553712"/>
            <a:ext cx="640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  <a:eastAsia/>
                <a:rFonts eastAsia="Arial Black" ascii="Arial Black" hAnsi="Arial Black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469087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攻克卡脖子技术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5148072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新型举国体制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企业创新主体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0144" y="4553712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4553712"/>
            <a:ext cx="640080" cy="16916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4553712"/>
            <a:ext cx="640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  <a:eastAsia/>
                <a:rFonts eastAsia="Arial Black" ascii="Arial Black" hAnsi="Arial Black"/>
              </a:rP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469087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高水平对外开放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5148072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国际大科学计划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吸引全球人才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▶ 六大举措形成系统合力：投入 + 人才（输入） → 体制 + 文化（环境） → 攻关 + 开放（突破）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对策一  投入 + 人才（输入端）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持续加大研发投入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286000"/>
            <a:ext cx="640080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423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2316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提高基础研究经费占比（目前约 6.65%，发达国家 15-20%）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92608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引导社会资本投入硬科技、长周期领域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4290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建设国家实验室、大科学装置（FAST、托卡马克）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822960" cy="8229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605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改革教育、培养创新人才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617720"/>
            <a:ext cx="640080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75488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中小学：强化数理基础与科学兴趣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2578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高校：推动 STEM 教育、新工科、强基计划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760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76072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完善博士后制度，给青年学者独立研究空间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783080"/>
            <a:ext cx="3291840" cy="44805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8745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重点关注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731520" cy="15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强基计划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10896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2020 年起教育部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实施'强基计划'：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选拔有志于服务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国家重大战略需求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的拔尖人才。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聚焦数学、物理、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化学、生物、历史、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哲学等基础学科。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是培养顶尖创新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人才的重要尝试。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对策二  体制 + 文化（环境端）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深化科技体制改革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286000"/>
            <a:ext cx="640080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423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2316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改革科研评价：破'四唯'（论文/职称/学历/奖项）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92608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赋予科学家更大经费使用自主权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4290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推动产学研深度融合，畅通成果转化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822960" cy="8229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605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营造尊重科学的社会文化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617720"/>
            <a:ext cx="640080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75488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弘扬科学家精神，树立时代偶像（黄大年、南仁东）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2578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提升全民科学素养，加强科普教育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760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76072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容忍失败、鼓励原创、严惩学术不端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783080"/>
            <a:ext cx="3291840" cy="44805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8745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重点关注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731520" cy="15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破'四唯'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10896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2018 年起，国务院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推动破除科研评价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中的'四唯'：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  ✗ 唯论文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  ✗ 唯职称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  ✗ 唯学历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  ✗ 唯奖项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转向以创新质量、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学术贡献和实际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绩效为核心的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多元评价体系。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对策三  攻关 + 开放（突破端）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关键核心技术攻关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286000"/>
            <a:ext cx="640080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423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2316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重点：集成电路、工业软件、高端装备、生物医药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92608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新型举国体制：政府主导 + 市场配置资源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4290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强化企业创新主体地位（华为、比亚迪、宁德时代）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822960" cy="8229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605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高水平对外开放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617720"/>
            <a:ext cx="640080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75488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主动参与 / 牵头国际大科学计划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2578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吸引全球顶尖人才'为我所用'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760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76072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受限领域加快国产替代，但不搞封闭排外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783080"/>
            <a:ext cx="3291840" cy="44805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8745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8C42"/>
                </a:solidFill>
                <a:latin typeface="微软雅黑"/>
                <a:eastAsia/>
                <a:rFonts eastAsia="微软雅黑" ascii="微软雅黑" hAnsi="微软雅黑"/>
              </a:rPr>
              <a:t>重点关注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731520" cy="15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新型举国体制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10896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新型举国体制：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党的领导 + 政府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主导 + 市场配置 +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企业主体 +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社会参与。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既发挥社会主义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集中力量办大事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的优势，又激发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市场和企业活力。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是攻克'卡脖子'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技术的中国方案。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结论与展望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Conclusion &amp;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核心观点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77440"/>
            <a:ext cx="868680" cy="86868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23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科学发展是社会系统工程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8346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受政治、经济、教育、文化、国际环境、法律军事等多重社会因素共同作用，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任何单一维度的努力都难以独自推动整体进步。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29000"/>
            <a:ext cx="868680" cy="86868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74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坚持'四个面向'战略导向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862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面向世界科技前沿、经济主战场、国家重大需求、人民生命健康，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是我国科技工作的基本遵循。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80560"/>
            <a:ext cx="868680" cy="86868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8C42"/>
                </a:solidFill>
                <a:latin typeface="Arial Black"/>
                <a:eastAsia/>
                <a:rFonts eastAsia="Arial Black" ascii="Arial Black" hAnsi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526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需要长期主义 + 系统思维 + 开放胸怀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937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实现高水平科技自立自强既要久久为功，又要协同推进，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更要在开放合作中融入全球创新网络。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60720"/>
            <a:ext cx="10881360" cy="7772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"科技兴则民族兴，科技强则国家强。"  —— 习近平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《科技观》课程作业  |  影响科学发展的社会因素及促进我国科技进步的路径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微软雅黑"/>
                <a:eastAsia/>
                <a:rFonts eastAsia="微软雅黑" ascii="微软雅黑" hAnsi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微软雅黑"/>
                <a:eastAsia/>
                <a:rFonts eastAsia="微软雅黑" ascii="微软雅黑" hAnsi="微软雅黑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  <a:eastAsia/>
                <a:rFonts eastAsia="微软雅黑" ascii="微软雅黑" hAnsi="微软雅黑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[1] 贝尔纳 J.D. 《科学的社会功能》[M]. 商务印书馆, 1982.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[2] 库恩 T. 《科学革命的结构》[M]. 北京大学出版社, 2003.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96896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[3] 李约瑟. 《中国科学技术史》[M]. 科学出版社.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8094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[4] 国家统计局. 2023 年全国科技经费投入统计公报[R].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[5] 中共中央国务院. 《'十四五'国家科技创新规划》[Z]. 2021.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[6] 习近平. 在全国科技创新大会上的讲话[N]. 人民日报,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33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[7] OECD. Main Science and Technology Indicators[R]. 2023.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17136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[8] 中国科协. 中国公民科学素质基准[Z]. 2023.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0118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微软雅黑"/>
                <a:eastAsia/>
                <a:rFonts eastAsia="微软雅黑" ascii="微软雅黑" hAnsi="微软雅黑"/>
              </a:rPr>
              <a:t>[9] 路甬祥. 论中国近现代科技发展之路[J]. 中国科学院院刊, 2009.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5897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stAsia/>
                <a:rFonts eastAsia="微软雅黑" ascii="微软雅黑" hAnsi="微软雅黑"/>
              </a:rPr>
              <a:t>感 谢 聆 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8C42"/>
                </a:solidFill>
                <a:latin typeface="Calibri"/>
                <a:eastAsia/>
                <a:rFonts eastAsia="Calibri" ascii="Calibri" hAnsi="Calibri"/>
              </a:rPr>
              <a:t>Thanks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