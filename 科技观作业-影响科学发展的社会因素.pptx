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R&amp;D/GDP %</c:v>
                </c:pt>
              </c:strCache>
            </c:strRef>
          </c:tx>
          <c:spPr>
            <a:solidFill>
              <a:srgbClr val="1F3A68"/>
            </a:solidFill>
          </c:spPr>
          <c:dPt>
            <c:idx val="5"/>
            <c:invertIfNegative val="0"/>
            <c:bubble3D val="0"/>
            <c:spPr>
              <a:solidFill>
                <a:srgbClr val="FF8C42"/>
              </a:solidFill>
            </c:spPr>
          </c:dPt>
          <c:cat>
            <c:strRef>
              <c:f>Sheet1!$A$2:$A$8</c:f>
              <c:strCache>
                <c:ptCount val="7"/>
                <c:pt idx="0">
                  <c:v>以色列</c:v>
                </c:pt>
                <c:pt idx="1">
                  <c:v>韩国</c:v>
                </c:pt>
                <c:pt idx="2">
                  <c:v>美国</c:v>
                </c:pt>
                <c:pt idx="3">
                  <c:v>日本</c:v>
                </c:pt>
                <c:pt idx="4">
                  <c:v>德国</c:v>
                </c:pt>
                <c:pt idx="5">
                  <c:v>中国</c:v>
                </c:pt>
                <c:pt idx="6">
                  <c:v>法国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5.56</c:v>
                </c:pt>
                <c:pt idx="1">
                  <c:v>4.93</c:v>
                </c:pt>
                <c:pt idx="2">
                  <c:v>3.4</c:v>
                </c:pt>
                <c:pt idx="3">
                  <c:v>3.3</c:v>
                </c:pt>
                <c:pt idx="4">
                  <c:v>3.13</c:v>
                </c:pt>
                <c:pt idx="5">
                  <c:v>2.68</c:v>
                </c:pt>
                <c:pt idx="6">
                  <c:v>2.2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 b="1">
                  <a:solidFill>
                    <a:srgbClr val="1F3A6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R&amp;D</c:v>
                </c:pt>
              </c:strCache>
            </c:strRef>
          </c:tx>
          <c:spPr>
            <a:ln w="31750">
              <a:solidFill>
                <a:srgbClr val="FF8C42"/>
              </a:solidFill>
            </a:ln>
          </c:spPr>
          <c:marker>
            <c:symbol val="none"/>
          </c:marker>
          <c:cat>
            <c:strRef>
              <c:f>Sheet1!$A$2:$A$11</c:f>
              <c:strCache>
                <c:ptCount val="10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1.42</c:v>
                </c:pt>
                <c:pt idx="1">
                  <c:v>1.57</c:v>
                </c:pt>
                <c:pt idx="2">
                  <c:v>1.76</c:v>
                </c:pt>
                <c:pt idx="3">
                  <c:v>1.97</c:v>
                </c:pt>
                <c:pt idx="4">
                  <c:v>2.21</c:v>
                </c:pt>
                <c:pt idx="5">
                  <c:v>2.44</c:v>
                </c:pt>
                <c:pt idx="6">
                  <c:v>2.8</c:v>
                </c:pt>
                <c:pt idx="7">
                  <c:v>3.09</c:v>
                </c:pt>
                <c:pt idx="8">
                  <c:v>3.34</c:v>
                </c:pt>
                <c:pt idx="9">
                  <c:v>3.63</c:v>
                </c:pt>
              </c:numCache>
            </c:numRef>
          </c:val>
          <c:smooth/>
        </c:ser>
        <c:dLbls>
          <c:txPr>
            <a:bodyPr/>
            <a:lstStyle/>
            <a:p>
              <a:pPr>
                <a:defRPr sz="900">
                  <a:solidFill>
                    <a:srgbClr val="1F3A68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0" cy="6858000"/>
          </a:xfrm>
          <a:prstGeom prst="rect">
            <a:avLst/>
          </a:prstGeom>
          <a:solidFill>
            <a:srgbClr val="172C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572000"/>
            <a:ext cx="12191695" cy="54864"/>
          </a:xfrm>
          <a:prstGeom prst="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微软雅黑"/>
                <a:rFonts eastAsia="微软雅黑"/>
              </a:rPr>
              <a:t>影响科学发展的社会因素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FF8C42"/>
                </a:solidFill>
                <a:latin typeface="微软雅黑"/>
                <a:rFonts eastAsia="微软雅黑"/>
              </a:rPr>
              <a:t>及促进我国科技进步的路径思考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6576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CCD6E6"/>
                </a:solidFill>
                <a:latin typeface="Calibri"/>
                <a:rFonts eastAsia="Calibri"/>
              </a:rPr>
              <a:t>Social Factors in Scientific Development &amp; Pathways for China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3776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微软雅黑"/>
                <a:rFonts eastAsia="微软雅黑"/>
              </a:rPr>
              <a:t>《科技观》课程  |  个人作业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39496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CCD6E6"/>
                </a:solidFill>
                <a:latin typeface="微软雅黑"/>
                <a:rFonts eastAsia="微软雅黑"/>
              </a:rPr>
              <a:t>姓名：____________   学号：____________   班级：____________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7607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CCD6E6"/>
                </a:solidFill>
                <a:latin typeface="微软雅黑"/>
                <a:rFonts eastAsia="微软雅黑"/>
              </a:rPr>
              <a:t>指导教师：____________   日期：2026年5月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320040"/>
            <a:ext cx="137160" cy="457200"/>
          </a:xfrm>
          <a:prstGeom prst="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743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1F3A68"/>
                </a:solidFill>
                <a:latin typeface="微软雅黑"/>
                <a:rFonts eastAsia="微软雅黑"/>
              </a:rPr>
              <a:t>引言：科学发展离不开社会土壤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30000" cy="18288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3611880" cy="2011680"/>
          </a:xfrm>
          <a:prstGeom prst="rect">
            <a:avLst/>
          </a:prstGeom>
          <a:solidFill>
            <a:srgbClr val="E8EFF7"/>
          </a:solidFill>
          <a:ln w="9525">
            <a:solidFill>
              <a:srgbClr val="1F3A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9164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800" b="1">
                <a:solidFill>
                  <a:srgbClr val="FF8C42"/>
                </a:solidFill>
                <a:latin typeface="微软雅黑"/>
                <a:rFonts eastAsia="微软雅黑"/>
              </a:rPr>
              <a:t>3.63万亿元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8600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2C2C2C"/>
                </a:solidFill>
                <a:latin typeface="微软雅黑"/>
                <a:rFonts eastAsia="微软雅黑"/>
              </a:rPr>
              <a:t>2024年中国R&amp;D经费总投入</a:t>
            </a:r>
          </a:p>
          <a:p>
            <a:pPr algn="ctr"/>
            <a:r>
              <a:rPr sz="1200" b="0">
                <a:solidFill>
                  <a:srgbClr val="2C2C2C"/>
                </a:solidFill>
                <a:latin typeface="微软雅黑"/>
                <a:rFonts eastAsia="微软雅黑"/>
              </a:rPr>
              <a:t>同比增长8.3%，占GDP 2.68%</a:t>
            </a:r>
          </a:p>
          <a:p>
            <a:pPr algn="ctr"/>
            <a:r>
              <a:rPr sz="1200" b="0">
                <a:solidFill>
                  <a:srgbClr val="2C2C2C"/>
                </a:solidFill>
                <a:latin typeface="微软雅黑"/>
                <a:rFonts eastAsia="微软雅黑"/>
              </a:rPr>
              <a:t>（来源：国家统计局 2025.2）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554480"/>
            <a:ext cx="3611880" cy="2011680"/>
          </a:xfrm>
          <a:prstGeom prst="rect">
            <a:avLst/>
          </a:prstGeom>
          <a:solidFill>
            <a:srgbClr val="E8EFF7"/>
          </a:solidFill>
          <a:ln w="9525">
            <a:solidFill>
              <a:srgbClr val="1F3A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69164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800" b="1">
                <a:solidFill>
                  <a:srgbClr val="FF8C42"/>
                </a:solidFill>
                <a:latin typeface="微软雅黑"/>
                <a:rFonts eastAsia="微软雅黑"/>
              </a:rPr>
              <a:t>全球第11位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228600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2C2C2C"/>
                </a:solidFill>
                <a:latin typeface="微软雅黑"/>
                <a:rFonts eastAsia="微软雅黑"/>
              </a:rPr>
              <a:t>2024年全球创新指数(GII)排名</a:t>
            </a:r>
          </a:p>
          <a:p>
            <a:pPr algn="ctr"/>
            <a:r>
              <a:rPr sz="1200" b="0">
                <a:solidFill>
                  <a:srgbClr val="2C2C2C"/>
                </a:solidFill>
                <a:latin typeface="微软雅黑"/>
                <a:rFonts eastAsia="微软雅黑"/>
              </a:rPr>
              <a:t>中国10年内上升最快经济体之一</a:t>
            </a:r>
          </a:p>
          <a:p>
            <a:pPr algn="ctr"/>
            <a:r>
              <a:rPr sz="1200" b="0">
                <a:solidFill>
                  <a:srgbClr val="2C2C2C"/>
                </a:solidFill>
                <a:latin typeface="微软雅黑"/>
                <a:rFonts eastAsia="微软雅黑"/>
              </a:rPr>
              <a:t>（来源：WIPO GII 2024）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1554480"/>
            <a:ext cx="3611880" cy="2011680"/>
          </a:xfrm>
          <a:prstGeom prst="rect">
            <a:avLst/>
          </a:prstGeom>
          <a:solidFill>
            <a:srgbClr val="E8EFF7"/>
          </a:solidFill>
          <a:ln w="9525">
            <a:solidFill>
              <a:srgbClr val="1F3A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69164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800" b="1">
                <a:solidFill>
                  <a:srgbClr val="FF8C42"/>
                </a:solidFill>
                <a:latin typeface="微软雅黑"/>
                <a:rFonts eastAsia="微软雅黑"/>
              </a:rPr>
              <a:t>连续5年第1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228600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2C2C2C"/>
                </a:solidFill>
                <a:latin typeface="微软雅黑"/>
                <a:rFonts eastAsia="微软雅黑"/>
              </a:rPr>
              <a:t>中国PCT国际专利申请量</a:t>
            </a:r>
          </a:p>
          <a:p>
            <a:pPr algn="ctr"/>
            <a:r>
              <a:rPr sz="1200" b="0">
                <a:solidFill>
                  <a:srgbClr val="2C2C2C"/>
                </a:solidFill>
                <a:latin typeface="微软雅黑"/>
                <a:rFonts eastAsia="微软雅黑"/>
              </a:rPr>
              <a:t>2023年达69,610件，占全球25%</a:t>
            </a:r>
          </a:p>
          <a:p>
            <a:pPr algn="ctr"/>
            <a:r>
              <a:rPr sz="1200" b="0">
                <a:solidFill>
                  <a:srgbClr val="2C2C2C"/>
                </a:solidFill>
                <a:latin typeface="微软雅黑"/>
                <a:rFonts eastAsia="微软雅黑"/>
              </a:rPr>
              <a:t>（来源：WIPO 2024.3）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840480"/>
            <a:ext cx="11064240" cy="164592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977639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8C42"/>
                </a:solidFill>
                <a:latin typeface="微软雅黑"/>
                <a:rFonts eastAsia="微软雅黑"/>
              </a:rPr>
              <a:t>核心问题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4348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微软雅黑"/>
                <a:rFonts eastAsia="微软雅黑"/>
              </a:rPr>
              <a:t>这些成就背后，哪些社会因素在起作用？还有哪些瓶颈制约着中国科技的进一步突破？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微软雅黑"/>
                <a:rFonts eastAsia="微软雅黑"/>
              </a:rPr>
              <a:t>本PPT从政治、经济、教育、文化、国际环境五大维度分析影响因素，并提出对策建议。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F3A68"/>
                </a:solidFill>
                <a:latin typeface="微软雅黑"/>
                <a:rFonts eastAsia="微软雅黑"/>
              </a:rPr>
              <a:t>时间线：两弹一星(1964)→杂交水稻(1973)→载人航天(2003)→北斗全球组网(2020)→嫦娥六号(2024)→DeepSeek-R1(2025)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9CA3AF"/>
                </a:solidFill>
                <a:latin typeface="微软雅黑"/>
                <a:rFonts eastAsia="微软雅黑"/>
              </a:rPr>
              <a:t>《科技观》课程作业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9CA3AF"/>
                </a:solidFill>
                <a:latin typeface="微软雅黑"/>
                <a:rFonts eastAsia="微软雅黑"/>
              </a:rPr>
              <a:t>2/15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320040"/>
            <a:ext cx="137160" cy="457200"/>
          </a:xfrm>
          <a:prstGeom prst="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743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1F3A68"/>
                </a:solidFill>
                <a:latin typeface="微软雅黑"/>
                <a:rFonts eastAsia="微软雅黑"/>
              </a:rPr>
              <a:t>第一部分：影响科学发展的五大社会因素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30000" cy="18288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212080" y="2926080"/>
            <a:ext cx="1463040" cy="1463040"/>
          </a:xfrm>
          <a:prstGeom prst="ellipse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</a:rPr>
              <a:t>科学
发展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34640" y="3246120"/>
            <a:ext cx="1645920" cy="822960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政治制度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14227" y="1072004"/>
            <a:ext cx="1645920" cy="822960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经济基础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0052" y="1902442"/>
            <a:ext cx="1645920" cy="822960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教育体系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70052" y="4589797"/>
            <a:ext cx="1645920" cy="822960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文化传统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14227" y="5420235"/>
            <a:ext cx="1645920" cy="822960"/>
          </a:xfrm>
          <a:prstGeom prst="round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国际环境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微软雅黑"/>
                <a:rFonts eastAsia="微软雅黑"/>
              </a:rPr>
              <a:t>此外还包括：法律制度（知识产权）、军事需求（ARPANET→互联网）、宗教伦理、媒体传播等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9CA3AF"/>
                </a:solidFill>
                <a:latin typeface="微软雅黑"/>
                <a:rFonts eastAsia="微软雅黑"/>
              </a:rPr>
              <a:t>《科技观》课程作业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9CA3AF"/>
                </a:solidFill>
                <a:latin typeface="微软雅黑"/>
                <a:rFonts eastAsia="微软雅黑"/>
              </a:rPr>
              <a:t>3/15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320040"/>
            <a:ext cx="137160" cy="457200"/>
          </a:xfrm>
          <a:prstGeom prst="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743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1F3A68"/>
                </a:solidFill>
                <a:latin typeface="微软雅黑"/>
                <a:rFonts eastAsia="微软雅黑"/>
              </a:rPr>
              <a:t>因素① 政治制度与科技政策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30000" cy="18288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54480"/>
            <a:ext cx="5303520" cy="2286000"/>
          </a:xfrm>
          <a:prstGeom prst="rect">
            <a:avLst/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EA87E"/>
                </a:solidFill>
                <a:latin typeface="微软雅黑"/>
                <a:rFonts eastAsia="微软雅黑"/>
              </a:rPr>
              <a:t>正面：国家战略驱动重大突破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11680"/>
            <a:ext cx="4937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2C2C2C"/>
                </a:solidFill>
                <a:latin typeface="微软雅黑"/>
                <a:rFonts eastAsia="微软雅黑"/>
              </a:rPr>
              <a:t>• 两弹一星（1964-1970）：举国体制，23位元勋攻克核弹导弹卫星</a:t>
            </a:r>
          </a:p>
          <a:p>
            <a:pPr algn="l"/>
            <a:r>
              <a:rPr sz="1200" b="0">
                <a:solidFill>
                  <a:srgbClr val="2C2C2C"/>
                </a:solidFill>
                <a:latin typeface="微软雅黑"/>
                <a:rFonts eastAsia="微软雅黑"/>
              </a:rPr>
              <a:t>• 嫦娥六号（2024.6.25）：人类首次月球背面采样，取回1935.3克月壤</a:t>
            </a:r>
          </a:p>
          <a:p>
            <a:pPr algn="l"/>
            <a:r>
              <a:rPr sz="1200" b="0">
                <a:solidFill>
                  <a:srgbClr val="2C2C2C"/>
                </a:solidFill>
                <a:latin typeface="微软雅黑"/>
                <a:rFonts eastAsia="微软雅黑"/>
              </a:rPr>
              <a:t>• 北斗三号（2020）：全球组网，摆脱对GPS依赖</a:t>
            </a:r>
          </a:p>
          <a:p>
            <a:pPr algn="l"/>
            <a:r>
              <a:rPr sz="1200" b="0">
                <a:solidFill>
                  <a:srgbClr val="2C2C2C"/>
                </a:solidFill>
                <a:latin typeface="微软雅黑"/>
                <a:rFonts eastAsia="微软雅黑"/>
              </a:rPr>
              <a:t>• 政策工具：国家重点实验室超700个，R&amp;D税收加计扣除100%→20%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0" y="1554480"/>
            <a:ext cx="5760720" cy="2286000"/>
          </a:xfrm>
          <a:prstGeom prst="rect">
            <a:avLst/>
          </a:prstGeom>
          <a:solidFill>
            <a:srgbClr val="F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0" y="164592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D93B3B"/>
                </a:solidFill>
                <a:latin typeface="微软雅黑"/>
                <a:rFonts eastAsia="微软雅黑"/>
              </a:rPr>
              <a:t>反面：苏联李森科事件（1935-1964）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2011680"/>
            <a:ext cx="53949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2C2C2C"/>
                </a:solidFill>
                <a:latin typeface="微软雅黑"/>
                <a:rFonts eastAsia="微软雅黑"/>
              </a:rPr>
              <a:t>• 李森科否定孟德尔-摩尔根遗传学，鼓吹「获得性遗传」</a:t>
            </a:r>
          </a:p>
          <a:p>
            <a:pPr algn="l"/>
            <a:r>
              <a:rPr sz="1200" b="0">
                <a:solidFill>
                  <a:srgbClr val="2C2C2C"/>
                </a:solidFill>
                <a:latin typeface="微软雅黑"/>
                <a:rFonts eastAsia="微软雅黑"/>
              </a:rPr>
              <a:t>• 斯大林支持下，1948年全苏农科院宣布遗传学为「伪科学」</a:t>
            </a:r>
          </a:p>
          <a:p>
            <a:pPr algn="l"/>
            <a:r>
              <a:rPr sz="1200" b="0">
                <a:solidFill>
                  <a:srgbClr val="2C2C2C"/>
                </a:solidFill>
                <a:latin typeface="微软雅黑"/>
                <a:rFonts eastAsia="微软雅黑"/>
              </a:rPr>
              <a:t>• 遗传学家瓦维洛夫被捕入狱，1943年死于狱中</a:t>
            </a:r>
          </a:p>
          <a:p>
            <a:pPr algn="l"/>
            <a:r>
              <a:rPr sz="1200" b="0">
                <a:solidFill>
                  <a:srgbClr val="2C2C2C"/>
                </a:solidFill>
                <a:latin typeface="微软雅黑"/>
                <a:rFonts eastAsia="微软雅黑"/>
              </a:rPr>
              <a:t>• 3000多名遗传学家被解职，苏联遗传学倒退30年</a:t>
            </a:r>
          </a:p>
          <a:p>
            <a:pPr algn="l"/>
            <a:r>
              <a:rPr sz="1200" b="0">
                <a:solidFill>
                  <a:srgbClr val="2C2C2C"/>
                </a:solidFill>
                <a:latin typeface="微软雅黑"/>
                <a:rFonts eastAsia="微软雅黑"/>
              </a:rPr>
              <a:t>• 教训：政治权力不当干预科学，后果是灾难性的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114800"/>
            <a:ext cx="11247120" cy="210312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2519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8C42"/>
                </a:solidFill>
                <a:latin typeface="微软雅黑"/>
                <a:rFonts eastAsia="微软雅黑"/>
              </a:rPr>
              <a:t>对比启示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663440"/>
            <a:ext cx="108813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微软雅黑"/>
                <a:rFonts eastAsia="微软雅黑"/>
              </a:rPr>
              <a:t>政治稳定 + 正确的科技战略 = 集中力量办大事（两弹一星、嫦娥工程）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微软雅黑"/>
                <a:rFonts eastAsia="微软雅黑"/>
              </a:rPr>
              <a:t>政治干预科学自由 = 扼杀创新（李森科事件、文革对科研的破坏）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微软雅黑"/>
                <a:rFonts eastAsia="微软雅黑"/>
              </a:rPr>
              <a:t/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微软雅黑"/>
                <a:rFonts eastAsia="微软雅黑"/>
              </a:rPr>
              <a:t>关键原则：政府应当管方向、管投入、管评价，但不能管学术判断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9CA3AF"/>
                </a:solidFill>
                <a:latin typeface="微软雅黑"/>
                <a:rFonts eastAsia="微软雅黑"/>
              </a:rPr>
              <a:t>《科技观》课程作业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9CA3AF"/>
                </a:solidFill>
                <a:latin typeface="微软雅黑"/>
                <a:rFonts eastAsia="微软雅黑"/>
              </a:rPr>
              <a:t>4/15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320040"/>
            <a:ext cx="137160" cy="457200"/>
          </a:xfrm>
          <a:prstGeom prst="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743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1F3A68"/>
                </a:solidFill>
                <a:latin typeface="微软雅黑"/>
                <a:rFonts eastAsia="微软雅黑"/>
              </a:rPr>
              <a:t>因素② 经济发展水平与研发投入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30000" cy="18288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3A68"/>
                </a:solidFill>
                <a:latin typeface="微软雅黑"/>
                <a:rFonts eastAsia="微软雅黑"/>
              </a:rPr>
              <a:t>2024年中国R&amp;D经费达3.63万亿元（约$1.03万亿 PPP），首次超越美国成为全球最大研发投入国（ITIF, 2026.5）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920240"/>
          <a:ext cx="566928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44068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9CA3AF"/>
                </a:solidFill>
                <a:latin typeface="微软雅黑"/>
                <a:rFonts eastAsia="微软雅黑"/>
              </a:rPr>
              <a:t>数据来源：OECD MSTI 2024 / ITIF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9202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微软雅黑"/>
                <a:rFonts eastAsia="微软雅黑"/>
              </a:rPr>
              <a:t>经济→科技的传导机制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468880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8C42"/>
                </a:solidFill>
                <a:latin typeface="微软雅黑"/>
                <a:rFonts eastAsia="微软雅黑"/>
              </a:rPr>
              <a:t>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468880"/>
            <a:ext cx="5029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2C2C2C"/>
                </a:solidFill>
                <a:latin typeface="微软雅黑"/>
                <a:rFonts eastAsia="微软雅黑"/>
              </a:rPr>
              <a:t>经济实力决定投入能力：中国R&amp;D经费20年增长超12倍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127248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8C42"/>
                </a:solidFill>
                <a:latin typeface="微软雅黑"/>
                <a:rFonts eastAsia="微软雅黑"/>
              </a:rPr>
              <a:t>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3127248"/>
            <a:ext cx="5029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2C2C2C"/>
                </a:solidFill>
                <a:latin typeface="微软雅黑"/>
                <a:rFonts eastAsia="微软雅黑"/>
              </a:rPr>
              <a:t>市场需求牵引方向：5G商用(2019)催生万亿级产业链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785616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8C42"/>
                </a:solidFill>
                <a:latin typeface="微软雅黑"/>
                <a:rFonts eastAsia="微软雅黑"/>
              </a:rPr>
              <a:t>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785616"/>
            <a:ext cx="5029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2C2C2C"/>
                </a:solidFill>
                <a:latin typeface="微软雅黑"/>
                <a:rFonts eastAsia="微软雅黑"/>
              </a:rPr>
              <a:t>产业升级倒逼基础研究：芯片困境→国家大基金(3440亿元)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4443984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8C42"/>
                </a:solidFill>
                <a:latin typeface="微软雅黑"/>
                <a:rFonts eastAsia="微软雅黑"/>
              </a:rPr>
              <a:t>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443984"/>
            <a:ext cx="5029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2C2C2C"/>
                </a:solidFill>
                <a:latin typeface="微软雅黑"/>
                <a:rFonts eastAsia="微软雅黑"/>
              </a:rPr>
              <a:t>基础研究占比仅6.65%，发达国家15-25%——短板明显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102352"/>
            <a:ext cx="228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8C42"/>
                </a:solidFill>
                <a:latin typeface="微软雅黑"/>
                <a:rFonts eastAsia="微软雅黑"/>
              </a:rPr>
              <a:t>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5102352"/>
            <a:ext cx="5029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2C2C2C"/>
                </a:solidFill>
                <a:latin typeface="微软雅黑"/>
                <a:rFonts eastAsia="微软雅黑"/>
              </a:rPr>
              <a:t>蒸汽机源于18世纪英国矿山排水需求，经济需求→技术革命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9CA3AF"/>
                </a:solidFill>
                <a:latin typeface="微软雅黑"/>
                <a:rFonts eastAsia="微软雅黑"/>
              </a:rPr>
              <a:t>《科技观》课程作业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9CA3AF"/>
                </a:solidFill>
                <a:latin typeface="微软雅黑"/>
                <a:rFonts eastAsia="微软雅黑"/>
              </a:rPr>
              <a:t>5/15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320040"/>
            <a:ext cx="137160" cy="457200"/>
          </a:xfrm>
          <a:prstGeom prst="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743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1F3A68"/>
                </a:solidFill>
                <a:latin typeface="微软雅黑"/>
                <a:rFonts eastAsia="微软雅黑"/>
              </a:rPr>
              <a:t>因素③ 教育体系与人才培养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30000" cy="18288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11247120" cy="1371600"/>
          </a:xfrm>
          <a:prstGeom prst="rect">
            <a:avLst/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3A68"/>
                </a:solidFill>
                <a:latin typeface="微软雅黑"/>
                <a:rFonts eastAsia="微软雅黑"/>
              </a:rPr>
              <a:t>中国高等教育：规模世界第一，但顶尖创新人才仍不足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2C2C2C"/>
                </a:solidFill>
                <a:latin typeface="微软雅黑"/>
                <a:rFonts eastAsia="微软雅黑"/>
              </a:rPr>
              <a:t>• 高等教育毛入学率 60.2%（2023），在学总规模 4763 万人，全球最大</a:t>
            </a:r>
          </a:p>
          <a:p>
            <a:pPr algn="l"/>
            <a:r>
              <a:rPr sz="1200" b="0">
                <a:solidFill>
                  <a:srgbClr val="2C2C2C"/>
                </a:solidFill>
                <a:latin typeface="微软雅黑"/>
                <a:rFonts eastAsia="微软雅黑"/>
              </a:rPr>
              <a:t>• 2024年STEM博士毕业生约8万人，数量超过美国</a:t>
            </a:r>
          </a:p>
          <a:p>
            <a:pPr algn="l"/>
            <a:r>
              <a:rPr sz="1200" b="0">
                <a:solidFill>
                  <a:srgbClr val="2C2C2C"/>
                </a:solidFill>
                <a:latin typeface="微软雅黑"/>
                <a:rFonts eastAsia="微软雅黑"/>
              </a:rPr>
              <a:t>• 但：诺贝尔自然科学奖本土获奖仅屠呦呦1人；菲尔兹奖 0人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108960"/>
            <a:ext cx="5486400" cy="27432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2004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8C42"/>
                </a:solidFill>
                <a:latin typeface="微软雅黑"/>
                <a:rFonts eastAsia="微软雅黑"/>
              </a:rPr>
              <a:t>钱学森之问（2005年）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11880"/>
            <a:ext cx="512064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/>
                <a:rFonts eastAsia="微软雅黑"/>
              </a:rPr>
              <a:t>2005年，火箭科学家钱学森向时任总理温家宝提问：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微软雅黑"/>
                <a:rFonts eastAsia="微软雅黑"/>
              </a:rPr>
              <a:t/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微软雅黑"/>
                <a:rFonts eastAsia="微软雅黑"/>
              </a:rPr>
              <a:t>「为什么我们的学校总是培养不出杰出人才？」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微软雅黑"/>
                <a:rFonts eastAsia="微软雅黑"/>
              </a:rPr>
              <a:t/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微软雅黑"/>
                <a:rFonts eastAsia="微软雅黑"/>
              </a:rPr>
              <a:t>钱学森认为：中国教育缺乏对创造力、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微软雅黑"/>
                <a:rFonts eastAsia="微软雅黑"/>
              </a:rPr>
              <a:t>跨学科思维和创新精神的培养，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微软雅黑"/>
                <a:rFonts eastAsia="微软雅黑"/>
              </a:rPr>
              <a:t>这是阻碍科学进步的核心障碍。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微软雅黑"/>
                <a:rFonts eastAsia="微软雅黑"/>
              </a:rPr>
              <a:t/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微软雅黑"/>
                <a:rFonts eastAsia="微软雅黑"/>
              </a:rPr>
              <a:t>这一追问至今仍是中国教育改革的灵魂之问。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32004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微软雅黑"/>
                <a:rFonts eastAsia="微软雅黑"/>
              </a:rPr>
              <a:t>深层问题 vs 改革方向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6118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D93B3B"/>
                </a:solidFill>
                <a:latin typeface="微软雅黑"/>
                <a:rFonts eastAsia="微软雅黑"/>
              </a:rPr>
              <a:t>应试导向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3611880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>高考指挥棒下，标准答案压制批判性思维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427024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D93B3B"/>
                </a:solidFill>
                <a:latin typeface="微软雅黑"/>
                <a:rFonts eastAsia="微软雅黑"/>
              </a:rPr>
              <a:t>论文导向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4270248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>「唯论文」评价导致跟风研究，原创不足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492861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EA87E"/>
                </a:solidFill>
                <a:latin typeface="微软雅黑"/>
                <a:rFonts eastAsia="微软雅黑"/>
              </a:rPr>
              <a:t>强基计划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4928616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>2020年起36所高校选拔基础学科拔尖人才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558698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EA87E"/>
                </a:solidFill>
                <a:latin typeface="微软雅黑"/>
                <a:rFonts eastAsia="微软雅黑"/>
              </a:rPr>
              <a:t>新工科建设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5586984"/>
            <a:ext cx="3931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>AI、集成电路等交叉学科，产教融合培养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9CA3AF"/>
                </a:solidFill>
                <a:latin typeface="微软雅黑"/>
                <a:rFonts eastAsia="微软雅黑"/>
              </a:rPr>
              <a:t>《科技观》课程作业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9CA3AF"/>
                </a:solidFill>
                <a:latin typeface="微软雅黑"/>
                <a:rFonts eastAsia="微软雅黑"/>
              </a:rPr>
              <a:t>6/15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320040"/>
            <a:ext cx="137160" cy="457200"/>
          </a:xfrm>
          <a:prstGeom prst="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743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1F3A68"/>
                </a:solidFill>
                <a:latin typeface="微软雅黑"/>
                <a:rFonts eastAsia="微软雅黑"/>
              </a:rPr>
              <a:t>因素④ 文化传统与社会观念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30000" cy="18288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5486400" cy="256032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8C42"/>
                </a:solidFill>
                <a:latin typeface="微软雅黑"/>
                <a:rFonts eastAsia="微软雅黑"/>
              </a:rPr>
              <a:t>李约瑟难题 (Needham Question)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51206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微软雅黑"/>
                <a:rFonts eastAsia="微软雅黑"/>
              </a:rPr>
              <a:t>英国学者李约瑟在《中国科学技术史》中提出：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微软雅黑"/>
                <a:rFonts eastAsia="微软雅黑"/>
              </a:rPr>
              <a:t/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微软雅黑"/>
                <a:rFonts eastAsia="微软雅黑"/>
              </a:rPr>
              <a:t>「为什么近代科学没有在中国产生，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微软雅黑"/>
                <a:rFonts eastAsia="微软雅黑"/>
              </a:rPr>
              <a:t>尽管古代中国的技术水平长期领先世界？」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微软雅黑"/>
                <a:rFonts eastAsia="微软雅黑"/>
              </a:rPr>
              <a:t/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微软雅黑"/>
                <a:rFonts eastAsia="微软雅黑"/>
              </a:rPr>
              <a:t>可能原因：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微软雅黑"/>
                <a:rFonts eastAsia="微软雅黑"/>
              </a:rPr>
              <a:t>• 科举制度重「经世致用」，轻纯粹理论探究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微软雅黑"/>
                <a:rFonts eastAsia="微软雅黑"/>
              </a:rPr>
              <a:t>• 缺乏形式逻辑与数学化传统</a:t>
            </a:r>
          </a:p>
          <a:p>
            <a:pPr algn="l"/>
            <a:r>
              <a:rPr sz="1200" b="0">
                <a:solidFill>
                  <a:srgbClr val="FFFFFF"/>
                </a:solidFill>
                <a:latin typeface="微软雅黑"/>
                <a:rFonts eastAsia="微软雅黑"/>
              </a:rPr>
              <a:t>• 封建专制不利于自由学术讨论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4630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微软雅黑"/>
                <a:rFonts eastAsia="微软雅黑"/>
              </a:rPr>
              <a:t>当代文化观念对科技的影响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920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D93B3B"/>
                </a:solidFill>
                <a:latin typeface="微软雅黑"/>
                <a:rFonts eastAsia="微软雅黑"/>
              </a:rPr>
              <a:t>科学精神不足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240280"/>
            <a:ext cx="5303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>公众科学素养比例仅14.14%（2023中国科协）</a:t>
            </a:r>
          </a:p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>发达国家通常25-30%以上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971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D93B3B"/>
                </a:solidFill>
                <a:latin typeface="微软雅黑"/>
                <a:rFonts eastAsia="微软雅黑"/>
              </a:rPr>
              <a:t>急功近利风气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291840"/>
            <a:ext cx="5303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>「短平快」研究偏好，基础研究坐冷板凳难</a:t>
            </a:r>
          </a:p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>科研人均论文多但原创性突破少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402336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D93B3B"/>
                </a:solidFill>
                <a:latin typeface="微软雅黑"/>
                <a:rFonts eastAsia="微软雅黑"/>
              </a:rPr>
              <a:t>对失败容忍度低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4343400"/>
            <a:ext cx="5303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>科研项目必须成功才能结题，不允许</a:t>
            </a:r>
          </a:p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>「证伪」也是科学贡献——文化认知偏差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50749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EA87E"/>
                </a:solidFill>
                <a:latin typeface="微软雅黑"/>
                <a:rFonts eastAsia="微软雅黑"/>
              </a:rPr>
              <a:t>积极变化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5394959"/>
            <a:ext cx="5303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>科学家精神宣传（南仁东、黄大年）、科幻文化</a:t>
            </a:r>
          </a:p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>兴起（《三体》《流浪地球》）提升科学关注度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9CA3AF"/>
                </a:solidFill>
                <a:latin typeface="微软雅黑"/>
                <a:rFonts eastAsia="微软雅黑"/>
              </a:rPr>
              <a:t>《科技观》课程作业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9CA3AF"/>
                </a:solidFill>
                <a:latin typeface="微软雅黑"/>
                <a:rFonts eastAsia="微软雅黑"/>
              </a:rPr>
              <a:t>7/15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320040"/>
            <a:ext cx="137160" cy="457200"/>
          </a:xfrm>
          <a:prstGeom prst="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743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1F3A68"/>
                </a:solidFill>
                <a:latin typeface="微软雅黑"/>
                <a:rFonts eastAsia="微软雅黑"/>
              </a:rPr>
              <a:t>因素⑤ 国际环境与科技交流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30000" cy="18288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11247120" cy="2377440"/>
          </a:xfrm>
          <a:prstGeom prst="rect">
            <a:avLst/>
          </a:prstGeom>
          <a:solidFill>
            <a:srgbClr val="F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D93B3B"/>
                </a:solidFill>
                <a:latin typeface="微软雅黑"/>
                <a:rFonts eastAsia="微软雅黑"/>
              </a:rPr>
              <a:t>「卡脖子」清单——技术封锁的现实影响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51206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2C2C2C"/>
                </a:solidFill>
                <a:latin typeface="微软雅黑"/>
                <a:rFonts eastAsia="微软雅黑"/>
              </a:rPr>
              <a:t>2018年起美国对华技术封锁升级：</a:t>
            </a:r>
          </a:p>
          <a:p>
            <a:pPr algn="l"/>
            <a:r>
              <a:rPr sz="1200" b="0">
                <a:solidFill>
                  <a:srgbClr val="2C2C2C"/>
                </a:solidFill>
                <a:latin typeface="微软雅黑"/>
                <a:rFonts eastAsia="微软雅黑"/>
              </a:rPr>
              <a:t>• 光刻机：ASML EUV禁售，中国只能用DUV</a:t>
            </a:r>
          </a:p>
          <a:p>
            <a:pPr algn="l"/>
            <a:r>
              <a:rPr sz="1200" b="0">
                <a:solidFill>
                  <a:srgbClr val="2C2C2C"/>
                </a:solidFill>
                <a:latin typeface="微软雅黑"/>
                <a:rFonts eastAsia="微软雅黑"/>
              </a:rPr>
              <a:t>• EDA软件：Synopsys/Cadence/Mentor断供华为</a:t>
            </a:r>
          </a:p>
          <a:p>
            <a:pPr algn="l"/>
            <a:r>
              <a:rPr sz="1200" b="0">
                <a:solidFill>
                  <a:srgbClr val="2C2C2C"/>
                </a:solidFill>
                <a:latin typeface="微软雅黑"/>
                <a:rFonts eastAsia="微软雅黑"/>
              </a:rPr>
              <a:t>• AI芯片：NVIDIA A100/H100对华禁售</a:t>
            </a:r>
          </a:p>
          <a:p>
            <a:pPr algn="l"/>
            <a:r>
              <a:rPr sz="1200" b="0">
                <a:solidFill>
                  <a:srgbClr val="2C2C2C"/>
                </a:solidFill>
                <a:latin typeface="微软雅黑"/>
                <a:rFonts eastAsia="微软雅黑"/>
              </a:rPr>
              <a:t>• 操作系统：Android GMS服务对华为断供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920240"/>
            <a:ext cx="55778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2C2C2C"/>
                </a:solidFill>
                <a:latin typeface="微软雅黑"/>
                <a:rFonts eastAsia="微软雅黑"/>
              </a:rPr>
              <a:t>倒逼之下的国产突破：</a:t>
            </a:r>
          </a:p>
          <a:p>
            <a:pPr algn="l"/>
            <a:r>
              <a:rPr sz="1200" b="0">
                <a:solidFill>
                  <a:srgbClr val="2C2C2C"/>
                </a:solidFill>
                <a:latin typeface="微软雅黑"/>
                <a:rFonts eastAsia="微软雅黑"/>
              </a:rPr>
              <a:t>• 华为麒麟9000s(2023)：SMIC 7nm，回归5G</a:t>
            </a:r>
          </a:p>
          <a:p>
            <a:pPr algn="l"/>
            <a:r>
              <a:rPr sz="1200" b="0">
                <a:solidFill>
                  <a:srgbClr val="2C2C2C"/>
                </a:solidFill>
                <a:latin typeface="微软雅黑"/>
                <a:rFonts eastAsia="微软雅黑"/>
              </a:rPr>
              <a:t>• 华为Mate70搭载麒麟9100：SMIC 6nm(2024.11)</a:t>
            </a:r>
          </a:p>
          <a:p>
            <a:pPr algn="l"/>
            <a:r>
              <a:rPr sz="1200" b="0">
                <a:solidFill>
                  <a:srgbClr val="2C2C2C"/>
                </a:solidFill>
                <a:latin typeface="微软雅黑"/>
                <a:rFonts eastAsia="微软雅黑"/>
              </a:rPr>
              <a:t>• HarmonyOS NEXT：完全去安卓化的自主OS</a:t>
            </a:r>
          </a:p>
          <a:p>
            <a:pPr algn="l"/>
            <a:r>
              <a:rPr sz="1200" b="0">
                <a:solidFill>
                  <a:srgbClr val="2C2C2C"/>
                </a:solidFill>
                <a:latin typeface="微软雅黑"/>
                <a:rFonts eastAsia="微软雅黑"/>
              </a:rPr>
              <a:t>• DeepSeek-R1(2025.1)：开源AI模型，性能比肩</a:t>
            </a:r>
          </a:p>
          <a:p>
            <a:pPr algn="l"/>
            <a:r>
              <a:rPr sz="1200" b="0">
                <a:solidFill>
                  <a:srgbClr val="2C2C2C"/>
                </a:solidFill>
                <a:latin typeface="微软雅黑"/>
                <a:rFonts eastAsia="微软雅黑"/>
              </a:rPr>
              <a:t>  OpenAI o1，成本仅1/20，震动硅谷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114800"/>
            <a:ext cx="11247120" cy="2011680"/>
          </a:xfrm>
          <a:prstGeom prst="rect">
            <a:avLst/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20624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2EA87E"/>
                </a:solidFill>
                <a:latin typeface="微软雅黑"/>
                <a:rFonts eastAsia="微软雅黑"/>
              </a:rPr>
              <a:t>国际合作仍然是科学发展的加速器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572000"/>
            <a:ext cx="5120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2C2C2C"/>
                </a:solidFill>
                <a:latin typeface="微软雅黑"/>
                <a:rFonts eastAsia="微软雅黑"/>
              </a:rPr>
              <a:t>• CERN：中国参与希格斯粒子发现相关实验</a:t>
            </a:r>
          </a:p>
          <a:p>
            <a:pPr algn="l"/>
            <a:r>
              <a:rPr sz="1200" b="0">
                <a:solidFill>
                  <a:srgbClr val="2C2C2C"/>
                </a:solidFill>
                <a:latin typeface="微软雅黑"/>
                <a:rFonts eastAsia="微软雅黑"/>
              </a:rPr>
              <a:t>• ITER国际热核聚变：中国承担约9%经费与部件</a:t>
            </a:r>
          </a:p>
          <a:p>
            <a:pPr algn="l"/>
            <a:r>
              <a:rPr sz="1200" b="0">
                <a:solidFill>
                  <a:srgbClr val="2C2C2C"/>
                </a:solidFill>
                <a:latin typeface="微软雅黑"/>
                <a:rFonts eastAsia="微软雅黑"/>
              </a:rPr>
              <a:t>• 人类基因组计划：中国承担1%测序任务(1999)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4572000"/>
            <a:ext cx="55778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2C2C2C"/>
                </a:solidFill>
                <a:latin typeface="微软雅黑"/>
                <a:rFonts eastAsia="微软雅黑"/>
              </a:rPr>
              <a:t>• SKA平方公里阵列射电望远镜：中国是创始成员</a:t>
            </a:r>
          </a:p>
          <a:p>
            <a:pPr algn="l"/>
            <a:r>
              <a:rPr sz="1200" b="0">
                <a:solidFill>
                  <a:srgbClr val="2C2C2C"/>
                </a:solidFill>
                <a:latin typeface="微软雅黑"/>
                <a:rFonts eastAsia="微软雅黑"/>
              </a:rPr>
              <a:t>• 嫦娥六号搭载法国、意大利、巴基斯坦等国载荷</a:t>
            </a:r>
          </a:p>
          <a:p>
            <a:pPr algn="l"/>
            <a:r>
              <a:rPr sz="1200" b="0">
                <a:solidFill>
                  <a:srgbClr val="2C2C2C"/>
                </a:solidFill>
                <a:latin typeface="微软雅黑"/>
                <a:rFonts eastAsia="微软雅黑"/>
              </a:rPr>
              <a:t>• 中国空间站吧17国开放科学实验</a:t>
            </a:r>
          </a:p>
          <a:p>
            <a:pPr algn="l"/>
            <a:r>
              <a:rPr sz="1200" b="0">
                <a:solidFill>
                  <a:srgbClr val="2C2C2C"/>
                </a:solidFill>
                <a:latin typeface="微软雅黑"/>
                <a:rFonts eastAsia="微软雅黑"/>
              </a:rPr>
              <a:t>→ 启示：关键领域自主可控+非敏感领域开放合作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9CA3AF"/>
                </a:solidFill>
                <a:latin typeface="微软雅黑"/>
                <a:rFonts eastAsia="微软雅黑"/>
              </a:rPr>
              <a:t>《科技观》课程作业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9CA3AF"/>
                </a:solidFill>
                <a:latin typeface="微软雅黑"/>
                <a:rFonts eastAsia="微软雅黑"/>
              </a:rPr>
              <a:t>8/15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320040"/>
            <a:ext cx="137160" cy="457200"/>
          </a:xfrm>
          <a:prstGeom prst="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743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1F3A68"/>
                </a:solidFill>
                <a:latin typeface="微软雅黑"/>
                <a:rFonts eastAsia="微软雅黑"/>
              </a:rPr>
              <a:t>其他重要社会因素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30000" cy="18288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08760"/>
            <a:ext cx="1828800" cy="41148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rFonts eastAsia="微软雅黑"/>
              </a:rPr>
              <a:t>因素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1508760"/>
            <a:ext cx="3474720" cy="41148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68880" y="1554480"/>
            <a:ext cx="32918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rFonts eastAsia="微软雅黑"/>
              </a:rPr>
              <a:t>作用机制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1508760"/>
            <a:ext cx="5760720" cy="41148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0" y="1554480"/>
            <a:ext cx="5577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rFonts eastAsia="微软雅黑"/>
              </a:rPr>
              <a:t>真实案例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965960"/>
            <a:ext cx="1828800" cy="1097280"/>
          </a:xfrm>
          <a:prstGeom prst="rect">
            <a:avLst/>
          </a:prstGeom>
          <a:solidFill>
            <a:srgbClr val="E8EFF7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057400"/>
            <a:ext cx="1645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F3A68"/>
                </a:solidFill>
                <a:latin typeface="微软雅黑"/>
                <a:rFonts eastAsia="微软雅黑"/>
              </a:rPr>
              <a:t>法律/知识产权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77440" y="1965960"/>
            <a:ext cx="3474720" cy="1097280"/>
          </a:xfrm>
          <a:prstGeom prst="rect">
            <a:avLst/>
          </a:prstGeom>
          <a:solidFill>
            <a:srgbClr val="E8EFF7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68880" y="2057400"/>
            <a:ext cx="329183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>专利保护激励创新投入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0" y="1965960"/>
            <a:ext cx="5760720" cy="1097280"/>
          </a:xfrm>
          <a:prstGeom prst="rect">
            <a:avLst/>
          </a:prstGeom>
          <a:solidFill>
            <a:srgbClr val="E8EFF7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0" y="2057400"/>
            <a:ext cx="5577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>美国《拜杜法案》(1980)催生硅谷技术转让爆发</a:t>
            </a:r>
          </a:p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>PCT专利中国连续5年全球第一(69,610件/年)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063239"/>
            <a:ext cx="18288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154679"/>
            <a:ext cx="1645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F3A68"/>
                </a:solidFill>
                <a:latin typeface="微软雅黑"/>
                <a:rFonts eastAsia="微软雅黑"/>
              </a:rPr>
              <a:t>军事需求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77440" y="3063239"/>
            <a:ext cx="347472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0" y="3154679"/>
            <a:ext cx="329183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>国防战略催生重大技术突破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0" y="3063239"/>
            <a:ext cx="576072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5040" y="3154679"/>
            <a:ext cx="5577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>互联网前身ARPANET(1969)源于美军方通信需求</a:t>
            </a:r>
          </a:p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>北斗系统(2020全球组网)源于军事定位自主需求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160520"/>
            <a:ext cx="1828800" cy="1097280"/>
          </a:xfrm>
          <a:prstGeom prst="rect">
            <a:avLst/>
          </a:prstGeom>
          <a:solidFill>
            <a:srgbClr val="E8EFF7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4251959"/>
            <a:ext cx="1645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F3A68"/>
                </a:solidFill>
                <a:latin typeface="微软雅黑"/>
                <a:rFonts eastAsia="微软雅黑"/>
              </a:rPr>
              <a:t>媒体与舆论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77440" y="4160520"/>
            <a:ext cx="3474720" cy="1097280"/>
          </a:xfrm>
          <a:prstGeom prst="rect">
            <a:avLst/>
          </a:prstGeom>
          <a:solidFill>
            <a:srgbClr val="E8EFF7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68880" y="4251959"/>
            <a:ext cx="329183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>影响政策走向和公众接受度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43600" y="4160520"/>
            <a:ext cx="5760720" cy="1097280"/>
          </a:xfrm>
          <a:prstGeom prst="rect">
            <a:avLst/>
          </a:prstGeom>
          <a:solidFill>
            <a:srgbClr val="E8EFF7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5040" y="4251959"/>
            <a:ext cx="5577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>转基因争议导致中国商业化种植推迟10年以上</a:t>
            </a:r>
          </a:p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>核电邻避效应：福岛后全球核电审批趋严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257800"/>
            <a:ext cx="18288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5349240"/>
            <a:ext cx="16459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F3A68"/>
                </a:solidFill>
                <a:latin typeface="微软雅黑"/>
                <a:rFonts eastAsia="微软雅黑"/>
              </a:rPr>
              <a:t>人口与代际结构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377440" y="5257800"/>
            <a:ext cx="347472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0" y="5349240"/>
            <a:ext cx="329183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>科研后备力量、市场规模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3600" y="5257800"/>
            <a:ext cx="576072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5040" y="5349240"/>
            <a:ext cx="5577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>日本少子化→科研人才断层，高校招不满博士生</a:t>
            </a:r>
          </a:p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>中国工程师红利：每年STEM毕业生超500万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9CA3AF"/>
                </a:solidFill>
                <a:latin typeface="微软雅黑"/>
                <a:rFonts eastAsia="微软雅黑"/>
              </a:rPr>
              <a:t>《科技观》课程作业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9CA3AF"/>
                </a:solidFill>
                <a:latin typeface="微软雅黑"/>
                <a:rFonts eastAsia="微软雅黑"/>
              </a:rPr>
              <a:t>9/15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320040"/>
            <a:ext cx="137160" cy="457200"/>
          </a:xfrm>
          <a:prstGeom prst="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743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1F3A68"/>
                </a:solidFill>
                <a:latin typeface="微软雅黑"/>
                <a:rFonts eastAsia="微软雅黑"/>
              </a:rPr>
              <a:t>第二部分：如何促进我国科技进步？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30000" cy="18288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11247120" cy="64008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rFonts eastAsia="微软雅黑"/>
              </a:rPr>
              <a:t>总目标：实现高水平科技自立自强（二十大报告） | 四个面向：世界科技前沿/经济主战场/国家重大需求/人民生命健康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377440"/>
            <a:ext cx="361188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1F3A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377440"/>
            <a:ext cx="548640" cy="1737360"/>
          </a:xfrm>
          <a:prstGeom prst="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377440"/>
            <a:ext cx="54864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  <a:rFonts eastAsia="Arial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5146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微软雅黑"/>
                <a:rFonts eastAsia="微软雅黑"/>
              </a:rPr>
              <a:t>加大研发投入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926080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2C2C2C"/>
                </a:solidFill>
                <a:latin typeface="微软雅黑"/>
                <a:rFonts eastAsia="微软雅黑"/>
              </a:rPr>
              <a:t>提升基础研究占比</a:t>
            </a:r>
          </a:p>
          <a:p>
            <a:pPr algn="l"/>
            <a:r>
              <a:rPr sz="1200" b="0">
                <a:solidFill>
                  <a:srgbClr val="2C2C2C"/>
                </a:solidFill>
                <a:latin typeface="微软雅黑"/>
                <a:rFonts eastAsia="微软雅黑"/>
              </a:rPr>
              <a:t>目标：15%以上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60" y="2377440"/>
            <a:ext cx="361188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1F3A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60" y="2377440"/>
            <a:ext cx="548640" cy="1737360"/>
          </a:xfrm>
          <a:prstGeom prst="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51960" y="2377440"/>
            <a:ext cx="54864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  <a:rFonts eastAsia="Arial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25146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微软雅黑"/>
                <a:rFonts eastAsia="微软雅黑"/>
              </a:rPr>
              <a:t>改革教育体系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2926080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2C2C2C"/>
                </a:solidFill>
                <a:latin typeface="微软雅黑"/>
                <a:rFonts eastAsia="微软雅黑"/>
              </a:rPr>
              <a:t>强基计划+新工科</a:t>
            </a:r>
          </a:p>
          <a:p>
            <a:pPr algn="l"/>
            <a:r>
              <a:rPr sz="1200" b="0">
                <a:solidFill>
                  <a:srgbClr val="2C2C2C"/>
                </a:solidFill>
                <a:latin typeface="微软雅黑"/>
                <a:rFonts eastAsia="微软雅黑"/>
              </a:rPr>
              <a:t>培养原创型人才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46720" y="2377440"/>
            <a:ext cx="361188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1F3A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46720" y="2377440"/>
            <a:ext cx="548640" cy="1737360"/>
          </a:xfrm>
          <a:prstGeom prst="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0" y="2377440"/>
            <a:ext cx="54864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  <a:rFonts eastAsia="Arial"/>
              </a:rPr>
              <a:t>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32520" y="25146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微软雅黑"/>
                <a:rFonts eastAsia="微软雅黑"/>
              </a:rPr>
              <a:t>深化体制改革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32520" y="2926080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2C2C2C"/>
                </a:solidFill>
                <a:latin typeface="微软雅黑"/>
                <a:rFonts eastAsia="微软雅黑"/>
              </a:rPr>
              <a:t>破四唯/放管服</a:t>
            </a:r>
          </a:p>
          <a:p>
            <a:pPr algn="l"/>
            <a:r>
              <a:rPr sz="1200" b="0">
                <a:solidFill>
                  <a:srgbClr val="2C2C2C"/>
                </a:solidFill>
                <a:latin typeface="微软雅黑"/>
                <a:rFonts eastAsia="微软雅黑"/>
              </a:rPr>
              <a:t>科研评价去行政化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297680"/>
            <a:ext cx="361188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1F3A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297680"/>
            <a:ext cx="548640" cy="1737360"/>
          </a:xfrm>
          <a:prstGeom prst="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297680"/>
            <a:ext cx="54864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  <a:rFonts eastAsia="Arial"/>
              </a:rPr>
              <a:t>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44348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微软雅黑"/>
                <a:rFonts eastAsia="微软雅黑"/>
              </a:rPr>
              <a:t>营造创新文化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4846320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2C2C2C"/>
                </a:solidFill>
                <a:latin typeface="微软雅黑"/>
                <a:rFonts eastAsia="微软雅黑"/>
              </a:rPr>
              <a:t>容忍失败/鼓励冒险</a:t>
            </a:r>
          </a:p>
          <a:p>
            <a:pPr algn="l"/>
            <a:r>
              <a:rPr sz="1200" b="0">
                <a:solidFill>
                  <a:srgbClr val="2C2C2C"/>
                </a:solidFill>
                <a:latin typeface="微软雅黑"/>
                <a:rFonts eastAsia="微软雅黑"/>
              </a:rPr>
              <a:t>提升公众科学素养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51960" y="4297680"/>
            <a:ext cx="361188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1F3A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51960" y="4297680"/>
            <a:ext cx="548640" cy="1737360"/>
          </a:xfrm>
          <a:prstGeom prst="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51960" y="4297680"/>
            <a:ext cx="54864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  <a:rFonts eastAsia="Arial"/>
              </a:rPr>
              <a:t>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37760" y="44348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微软雅黑"/>
                <a:rFonts eastAsia="微软雅黑"/>
              </a:rPr>
              <a:t>攻克卡脖子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37760" y="4846320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2C2C2C"/>
                </a:solidFill>
                <a:latin typeface="微软雅黑"/>
                <a:rFonts eastAsia="微软雅黑"/>
              </a:rPr>
              <a:t>芯片/OS/工业软件</a:t>
            </a:r>
          </a:p>
          <a:p>
            <a:pPr algn="l"/>
            <a:r>
              <a:rPr sz="1200" b="0">
                <a:solidFill>
                  <a:srgbClr val="2C2C2C"/>
                </a:solidFill>
                <a:latin typeface="微软雅黑"/>
                <a:rFonts eastAsia="微软雅黑"/>
              </a:rPr>
              <a:t>新型举国体制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46720" y="4297680"/>
            <a:ext cx="361188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1F3A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046720" y="4297680"/>
            <a:ext cx="548640" cy="1737360"/>
          </a:xfrm>
          <a:prstGeom prst="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46720" y="4297680"/>
            <a:ext cx="54864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  <a:rFonts eastAsia="Arial"/>
              </a:rPr>
              <a:t>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32520" y="44348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微软雅黑"/>
                <a:rFonts eastAsia="微软雅黑"/>
              </a:rPr>
              <a:t>高水平开放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32520" y="4846320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2C2C2C"/>
                </a:solidFill>
                <a:latin typeface="微软雅黑"/>
                <a:rFonts eastAsia="微软雅黑"/>
              </a:rPr>
              <a:t>参与国际大科学</a:t>
            </a:r>
          </a:p>
          <a:p>
            <a:pPr algn="l"/>
            <a:r>
              <a:rPr sz="1200" b="0">
                <a:solidFill>
                  <a:srgbClr val="2C2C2C"/>
                </a:solidFill>
                <a:latin typeface="微软雅黑"/>
                <a:rFonts eastAsia="微软雅黑"/>
              </a:rPr>
              <a:t>吸引全球人才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9CA3AF"/>
                </a:solidFill>
                <a:latin typeface="微软雅黑"/>
                <a:rFonts eastAsia="微软雅黑"/>
              </a:rPr>
              <a:t>《科技观》课程作业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9CA3AF"/>
                </a:solidFill>
                <a:latin typeface="微软雅黑"/>
                <a:rFonts eastAsia="微软雅黑"/>
              </a:rPr>
              <a:t>10/15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320040"/>
            <a:ext cx="137160" cy="457200"/>
          </a:xfrm>
          <a:prstGeom prst="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743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1F3A68"/>
                </a:solidFill>
                <a:latin typeface="微软雅黑"/>
                <a:rFonts eastAsia="微软雅黑"/>
              </a:rPr>
              <a:t>对策①② 加大投入 + 培养人才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30000" cy="18288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5486400" cy="2194560"/>
          </a:xfrm>
          <a:prstGeom prst="rect">
            <a:avLst/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3A68"/>
                </a:solidFill>
                <a:latin typeface="微软雅黑"/>
                <a:rFonts eastAsia="微软雅黑"/>
              </a:rPr>
              <a:t>① 持续加大研发投入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51206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>现状：基础研究经费占R&amp;D总经费6.65%（2023），远低于</a:t>
            </a:r>
          </a:p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>美国(16.5%)、法国(23.2%)、日本(12.5%)</a:t>
            </a:r>
          </a:p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/>
            </a:r>
          </a:p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>建议：</a:t>
            </a:r>
          </a:p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>• 设立长周期基金（10-15年），容忍短期无产出</a:t>
            </a:r>
          </a:p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>• 国家自然科学基金扩规模（2024年受琈38.4万项申请）</a:t>
            </a:r>
          </a:p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>• 大科学装置：FAST已发现超900颗脉冲星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463040"/>
            <a:ext cx="5577840" cy="2194560"/>
          </a:xfrm>
          <a:prstGeom prst="rect">
            <a:avLst/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55448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3A68"/>
                </a:solidFill>
                <a:latin typeface="微软雅黑"/>
                <a:rFonts eastAsia="微软雅黑"/>
              </a:rPr>
              <a:t>② 教育改革与人才计划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920240"/>
            <a:ext cx="52120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>• 强基计划(2020-)：首批36所高校，本硕博贯通培养</a:t>
            </a:r>
          </a:p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>• 新工科建设：AI、集成电路、量子信息专业扩招</a:t>
            </a:r>
          </a:p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>• 青年科学家支持：国自然优青名额从600扩至800</a:t>
            </a:r>
          </a:p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>• 海外引才：累计引进高层次人才数万人</a:t>
            </a:r>
          </a:p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>• 改革方向：给35岁以下青年学者独立PI岗位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3A68"/>
                </a:solidFill>
                <a:latin typeface="微软雅黑"/>
                <a:rFonts eastAsia="微软雅黑"/>
              </a:rPr>
              <a:t>中国R&amp;D经费增长趋势（万亿元）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457200" y="4297680"/>
          <a:ext cx="11247120" cy="2011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9CA3AF"/>
                </a:solidFill>
                <a:latin typeface="微软雅黑"/>
                <a:rFonts eastAsia="微软雅黑"/>
              </a:rPr>
              <a:t>《科技观》课程作业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9CA3AF"/>
                </a:solidFill>
                <a:latin typeface="微软雅黑"/>
                <a:rFonts eastAsia="微软雅黑"/>
              </a:rPr>
              <a:t>11/15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320040"/>
            <a:ext cx="137160" cy="457200"/>
          </a:xfrm>
          <a:prstGeom prst="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743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1F3A68"/>
                </a:solidFill>
                <a:latin typeface="微软雅黑"/>
                <a:rFonts eastAsia="微软雅黑"/>
              </a:rPr>
              <a:t>对策③④ 体制改革 + 创新文化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30000" cy="18288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54864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1F3A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微软雅黑"/>
                <a:rFonts eastAsia="微软雅黑"/>
              </a:rPr>
              <a:t>③ 深化科技体制改革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65960"/>
            <a:ext cx="512064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>破「四唯」（2018年国务院发文）：</a:t>
            </a:r>
          </a:p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>  ✗ 唯论文 → 看实际贡献和同行评议</a:t>
            </a:r>
          </a:p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>  ✗ 唯职称 → 看研究实绩</a:t>
            </a:r>
          </a:p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>  ✗ 唯学历 → 看实际能力</a:t>
            </a:r>
          </a:p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>  ✗ 唯奖项 → 看长期影响</a:t>
            </a:r>
          </a:p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/>
            </a:r>
          </a:p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>具体举措：</a:t>
            </a:r>
          </a:p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>• 「包干制」试点：国自然杰青项目经费不设科目限制</a:t>
            </a:r>
          </a:p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>• 科研人员减负：精简报表、压缩评审会议</a:t>
            </a:r>
          </a:p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>• 促进转化：允许科研人员持有成果转化股权</a:t>
            </a:r>
          </a:p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>• 「揭榜挂帅」机制：不论资历，谁能干谁上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463040"/>
            <a:ext cx="557784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1F3A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55448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微软雅黑"/>
                <a:rFonts eastAsia="微软雅黑"/>
              </a:rPr>
              <a:t>④ 营造尊重科学的社会文化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965960"/>
            <a:ext cx="521208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>弘扬科学家精神：</a:t>
            </a:r>
          </a:p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>• 南仁东：22年选址建成FAST（500米口径射电望远镜）</a:t>
            </a:r>
          </a:p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>  2017年去世前仍在现场工作，2020年FAST正式运行</a:t>
            </a:r>
          </a:p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>  至今发现超900颗新脉冲星</a:t>
            </a:r>
          </a:p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>• 黄大年：放弃英国高薪回国，推进地球深部探测</a:t>
            </a:r>
          </a:p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/>
            </a:r>
          </a:p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>提升全民科学素养：</a:t>
            </a:r>
          </a:p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>• 2023年具备科学素质的公民比例14.14%（中国科协）</a:t>
            </a:r>
          </a:p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>• 十四五目标：2025年达到15%</a:t>
            </a:r>
          </a:p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>• 对比：美国约28%，瑞典约35%——差距明显</a:t>
            </a:r>
          </a:p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/>
            </a:r>
          </a:p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>容忍失败文化：</a:t>
            </a:r>
          </a:p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>• 基础研究失败率&gt;90%是正常的</a:t>
            </a:r>
          </a:p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>• 需建立「失败也是贡献」的评价共识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9CA3AF"/>
                </a:solidFill>
                <a:latin typeface="微软雅黑"/>
                <a:rFonts eastAsia="微软雅黑"/>
              </a:rPr>
              <a:t>《科技观》课程作业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9CA3AF"/>
                </a:solidFill>
                <a:latin typeface="微软雅黑"/>
                <a:rFonts eastAsia="微软雅黑"/>
              </a:rPr>
              <a:t>12/15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320040"/>
            <a:ext cx="137160" cy="457200"/>
          </a:xfrm>
          <a:prstGeom prst="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743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1F3A68"/>
                </a:solidFill>
                <a:latin typeface="微软雅黑"/>
                <a:rFonts eastAsia="微软雅黑"/>
              </a:rPr>
              <a:t>对策⑤⑥ 攻克卡脖子 + 高水平开放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30000" cy="18288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11247120" cy="256032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8C42"/>
                </a:solidFill>
                <a:latin typeface="微软雅黑"/>
                <a:rFonts eastAsia="微软雅黑"/>
              </a:rPr>
              <a:t>⑤ 关键核心技术攻关——已有突破的真实案例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65960"/>
            <a:ext cx="2651760" cy="1920240"/>
          </a:xfrm>
          <a:prstGeom prst="rect">
            <a:avLst/>
          </a:prstGeom>
          <a:solidFill>
            <a:srgbClr val="172C50"/>
          </a:solidFill>
          <a:ln w="9525">
            <a:solidFill>
              <a:srgbClr val="FF8C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19" y="2011680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FF8C42"/>
                </a:solidFill>
                <a:latin typeface="微软雅黑"/>
                <a:rFonts eastAsia="微软雅黑"/>
              </a:rPr>
              <a:t>C919大飞机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2377440"/>
            <a:ext cx="24688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微软雅黑"/>
                <a:rFonts eastAsia="微软雅黑"/>
              </a:rPr>
              <a:t>2023.5.28商业首飞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微软雅黑"/>
                <a:rFonts eastAsia="微软雅黑"/>
              </a:rPr>
              <a:t>上海→北京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微软雅黑"/>
                <a:rFonts eastAsia="微软雅黑"/>
              </a:rPr>
              <a:t>打破波音/空客垄断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微软雅黑"/>
                <a:rFonts eastAsia="微软雅黑"/>
              </a:rPr>
              <a:t>COMAC历时15年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0" y="1965960"/>
            <a:ext cx="2651760" cy="1920240"/>
          </a:xfrm>
          <a:prstGeom prst="rect">
            <a:avLst/>
          </a:prstGeom>
          <a:solidFill>
            <a:srgbClr val="172C50"/>
          </a:solidFill>
          <a:ln w="9525">
            <a:solidFill>
              <a:srgbClr val="FF8C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2011680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FF8C42"/>
                </a:solidFill>
                <a:latin typeface="微软雅黑"/>
                <a:rFonts eastAsia="微软雅黑"/>
              </a:rPr>
              <a:t>嫦娥六号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377440"/>
            <a:ext cx="24688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微软雅黑"/>
                <a:rFonts eastAsia="微软雅黑"/>
              </a:rPr>
              <a:t>2024.6.25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微软雅黑"/>
                <a:rFonts eastAsia="微软雅黑"/>
              </a:rPr>
              <a:t>人类首次月背取样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微软雅黑"/>
                <a:rFonts eastAsia="微软雅黑"/>
              </a:rPr>
              <a:t>1935.3克月壤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微软雅黑"/>
                <a:rFonts eastAsia="微软雅黑"/>
              </a:rPr>
              <a:t>53天任务全程自主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965960"/>
            <a:ext cx="2651760" cy="1920240"/>
          </a:xfrm>
          <a:prstGeom prst="rect">
            <a:avLst/>
          </a:prstGeom>
          <a:solidFill>
            <a:srgbClr val="172C50"/>
          </a:solidFill>
          <a:ln w="9525">
            <a:solidFill>
              <a:srgbClr val="FF8C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2011680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FF8C42"/>
                </a:solidFill>
                <a:latin typeface="微软雅黑"/>
                <a:rFonts eastAsia="微软雅黑"/>
              </a:rPr>
              <a:t>DeepSeek-R1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377440"/>
            <a:ext cx="24688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微软雅黑"/>
                <a:rFonts eastAsia="微软雅黑"/>
              </a:rPr>
              <a:t>2025.1开源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微软雅黑"/>
                <a:rFonts eastAsia="微软雅黑"/>
              </a:rPr>
              <a:t>性能比肩OpenAI o1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微软雅黑"/>
                <a:rFonts eastAsia="微软雅黑"/>
              </a:rPr>
              <a:t>训练成本仅1/20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微软雅黑"/>
                <a:rFonts eastAsia="微软雅黑"/>
              </a:rPr>
              <a:t>MIT协议免费使用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0" y="1965960"/>
            <a:ext cx="2651760" cy="1920240"/>
          </a:xfrm>
          <a:prstGeom prst="rect">
            <a:avLst/>
          </a:prstGeom>
          <a:solidFill>
            <a:srgbClr val="172C50"/>
          </a:solidFill>
          <a:ln w="9525">
            <a:solidFill>
              <a:srgbClr val="FF8C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0" y="2011680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FF8C42"/>
                </a:solidFill>
                <a:latin typeface="微软雅黑"/>
                <a:rFonts eastAsia="微软雅黑"/>
              </a:rPr>
              <a:t>墨子号卫星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2377440"/>
            <a:ext cx="24688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  <a:latin typeface="微软雅黑"/>
                <a:rFonts eastAsia="微软雅黑"/>
              </a:rPr>
              <a:t>2016.8发射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微软雅黑"/>
                <a:rFonts eastAsia="微软雅黑"/>
              </a:rPr>
              <a:t>全球首颗量子卫星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微软雅黑"/>
                <a:rFonts eastAsia="微软雅黑"/>
              </a:rPr>
              <a:t>实现1200km量子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微软雅黑"/>
                <a:rFonts eastAsia="微软雅黑"/>
              </a:rPr>
              <a:t>态远程传输(潘建伟)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297680"/>
            <a:ext cx="11247120" cy="1828800"/>
          </a:xfrm>
          <a:prstGeom prst="rect">
            <a:avLst/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38912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F3A68"/>
                </a:solidFill>
                <a:latin typeface="微软雅黑"/>
                <a:rFonts eastAsia="微软雅黑"/>
              </a:rPr>
              <a:t>⑥ 高水平对外开放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754880"/>
            <a:ext cx="53035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2C2C2C"/>
                </a:solidFill>
                <a:latin typeface="微软雅黑"/>
                <a:rFonts eastAsia="微软雅黑"/>
              </a:rPr>
              <a:t>主动参与国际大科学计划：</a:t>
            </a:r>
          </a:p>
          <a:p>
            <a:pPr algn="l"/>
            <a:r>
              <a:rPr sz="1200" b="0">
                <a:solidFill>
                  <a:srgbClr val="2C2C2C"/>
                </a:solidFill>
                <a:latin typeface="微软雅黑"/>
                <a:rFonts eastAsia="微软雅黑"/>
              </a:rPr>
              <a:t>• SKA射电望远镜阵列（创始成员国）</a:t>
            </a:r>
          </a:p>
          <a:p>
            <a:pPr algn="l"/>
            <a:r>
              <a:rPr sz="1200" b="0">
                <a:solidFill>
                  <a:srgbClr val="2C2C2C"/>
                </a:solidFill>
                <a:latin typeface="微软雅黑"/>
                <a:rFonts eastAsia="微软雅黑"/>
              </a:rPr>
              <a:t>• ITER国际热核聚变实验堆</a:t>
            </a:r>
          </a:p>
          <a:p>
            <a:pPr algn="l"/>
            <a:r>
              <a:rPr sz="1200" b="0">
                <a:solidFill>
                  <a:srgbClr val="2C2C2C"/>
                </a:solidFill>
                <a:latin typeface="微软雅黑"/>
                <a:rFonts eastAsia="微软雅黑"/>
              </a:rPr>
              <a:t>• 中国空间站吧17国开放科学实验</a:t>
            </a:r>
          </a:p>
          <a:p>
            <a:pPr algn="l"/>
            <a:r>
              <a:rPr sz="1200" b="0">
                <a:solidFill>
                  <a:srgbClr val="2C2C2C"/>
                </a:solidFill>
                <a:latin typeface="微软雅黑"/>
                <a:rFonts eastAsia="微软雅黑"/>
              </a:rPr>
              <a:t>• 嫦娥六号搭载法/意/巴等国载荷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4754880"/>
            <a:ext cx="5486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2C2C2C"/>
                </a:solidFill>
                <a:latin typeface="微软雅黑"/>
                <a:rFonts eastAsia="微软雅黑"/>
              </a:rPr>
              <a:t>人才政策：</a:t>
            </a:r>
          </a:p>
          <a:p>
            <a:pPr algn="l"/>
            <a:r>
              <a:rPr sz="1200" b="0">
                <a:solidFill>
                  <a:srgbClr val="2C2C2C"/>
                </a:solidFill>
                <a:latin typeface="微软雅黑"/>
                <a:rFonts eastAsia="微软雅黑"/>
              </a:rPr>
              <a:t>• 海外优青项目：吸引35岁以下学者回国</a:t>
            </a:r>
          </a:p>
          <a:p>
            <a:pPr algn="l"/>
            <a:r>
              <a:rPr sz="1200" b="0">
                <a:solidFill>
                  <a:srgbClr val="2C2C2C"/>
                </a:solidFill>
                <a:latin typeface="微软雅黑"/>
                <a:rFonts eastAsia="微软雅黑"/>
              </a:rPr>
              <a:t>• 来华留学生中STEM占比提升至40%+</a:t>
            </a:r>
          </a:p>
          <a:p>
            <a:pPr algn="l"/>
            <a:r>
              <a:rPr sz="1200" b="0">
                <a:solidFill>
                  <a:srgbClr val="2C2C2C"/>
                </a:solidFill>
                <a:latin typeface="微软雅黑"/>
                <a:rFonts eastAsia="微软雅黑"/>
              </a:rPr>
              <a:t>• 开放策略：非敏感领域合作，核心领域自主</a:t>
            </a:r>
          </a:p>
          <a:p>
            <a:pPr algn="l"/>
            <a:r>
              <a:rPr sz="1200" b="0">
                <a:solidFill>
                  <a:srgbClr val="2C2C2C"/>
                </a:solidFill>
                <a:latin typeface="微软雅黑"/>
                <a:rFonts eastAsia="微软雅黑"/>
              </a:rPr>
              <a:t>• 不搞「闭门造车」，在竞争中学习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9CA3AF"/>
                </a:solidFill>
                <a:latin typeface="微软雅黑"/>
                <a:rFonts eastAsia="微软雅黑"/>
              </a:rPr>
              <a:t>《科技观》课程作业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9CA3AF"/>
                </a:solidFill>
                <a:latin typeface="微软雅黑"/>
                <a:rFonts eastAsia="微软雅黑"/>
              </a:rPr>
              <a:t>13/15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320040"/>
            <a:ext cx="137160" cy="457200"/>
          </a:xfrm>
          <a:prstGeom prst="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743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1F3A68"/>
                </a:solidFill>
                <a:latin typeface="微软雅黑"/>
                <a:rFonts eastAsia="微软雅黑"/>
              </a:rPr>
              <a:t>结论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30000" cy="18288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457200" y="1463040"/>
            <a:ext cx="640080" cy="640080"/>
          </a:xfrm>
          <a:prstGeom prst="ellipse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  <a:rFonts eastAsia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508760"/>
            <a:ext cx="10424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微软雅黑"/>
                <a:rFonts eastAsia="微软雅黑"/>
              </a:rPr>
              <a:t>科学发展是社会系统工程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828800"/>
            <a:ext cx="10424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2C2C2C"/>
                </a:solidFill>
                <a:latin typeface="微软雅黑"/>
                <a:rFonts eastAsia="微软雅黑"/>
              </a:rPr>
              <a:t>不是单靠科学家的天才就能实现。政治稳定、经济投入、教育质量、文化氛围、国际环境缺一不可。李森科事件、文革对科研的破坏都是惨痛教训。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2697480"/>
            <a:ext cx="640080" cy="640080"/>
          </a:xfrm>
          <a:prstGeom prst="ellipse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69748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  <a:rFonts eastAsia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743200"/>
            <a:ext cx="10424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微软雅黑"/>
                <a:rFonts eastAsia="微软雅黑"/>
              </a:rPr>
              <a:t>中国正处从「跟跑」到「并跑/领跑」的关键阶段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063240"/>
            <a:ext cx="10424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2C2C2C"/>
                </a:solidFill>
                <a:latin typeface="微软雅黑"/>
                <a:rFonts eastAsia="微软雅黑"/>
              </a:rPr>
              <a:t>R&amp;D总量已全球第一，PCT专利连续5年第一，GII排名升至第11，但基础研究投入不足、原创性不够、卡脖子问题未根本解决。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3931920"/>
            <a:ext cx="640080" cy="640080"/>
          </a:xfrm>
          <a:prstGeom prst="ellipse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  <a:rFonts eastAsia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977640"/>
            <a:ext cx="10424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微软雅黑"/>
                <a:rFonts eastAsia="微软雅黑"/>
              </a:rPr>
              <a:t>需要长期主义 + 系统推进 + 开放胸怀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297680"/>
            <a:ext cx="10424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2C2C2C"/>
                </a:solidFill>
                <a:latin typeface="微软雅黑"/>
                <a:rFonts eastAsia="微软雅黑"/>
              </a:rPr>
              <a:t>加大基础研究投入需要耐心；体制改革需要勇气；文化转变需要代际积累；对外开放需要智慧。不可能毕其功于一役。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212080"/>
            <a:ext cx="11247120" cy="9144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rFonts eastAsia="微软雅黑"/>
              </a:rPr>
              <a:t>「科技兴则民族兴，科技强则国家强。」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715000"/>
            <a:ext cx="11247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FF8C42"/>
                </a:solidFill>
                <a:latin typeface="微软雅黑"/>
                <a:rFonts eastAsia="微软雅黑"/>
              </a:rPr>
              <a:t>—— 习近平  在全国科技创新大会上的讲话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9CA3AF"/>
                </a:solidFill>
                <a:latin typeface="微软雅黑"/>
                <a:rFonts eastAsia="微软雅黑"/>
              </a:rPr>
              <a:t>《科技观》课程作业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9CA3AF"/>
                </a:solidFill>
                <a:latin typeface="微软雅黑"/>
                <a:rFonts eastAsia="微软雅黑"/>
              </a:rPr>
              <a:t>14/15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320040"/>
            <a:ext cx="137160" cy="457200"/>
          </a:xfrm>
          <a:prstGeom prst="rect">
            <a:avLst/>
          </a:prstGeom>
          <a:solidFill>
            <a:srgbClr val="FF8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743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1F3A68"/>
                </a:solidFill>
                <a:latin typeface="微软雅黑"/>
                <a:rFonts eastAsia="微软雅黑"/>
              </a:rPr>
              <a:t>参考文献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1430000" cy="18288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>[1] 国家统计局. 2024年全国科技经费投入统计公报[R]. stats.gov.cn, 2025.2.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19072"/>
            <a:ext cx="108813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>[2] WIPO. Global Innovation Index 2024[R]. wipo.int, 2024.9.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66543"/>
            <a:ext cx="108813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>[3] WIPO. PCT Yearly Review 2024: China tops for 5th year[R]. 2024.3.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14015"/>
            <a:ext cx="108813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>[4] ITIF. China Overtakes the US in R&amp;D Investment[R]. itif.org, 2026.5.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761487"/>
            <a:ext cx="108813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>[5] 贝尔纳 J.D. 科学的社会功能[M]. 商务印书馆, 1982.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108959"/>
            <a:ext cx="108813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>[6] 李约瑟. 中国科学技术史[M]. 科学出版社.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456431"/>
            <a:ext cx="108813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>[7] Borinskaya et al. Lysenkoism Against Genetics[J]. Genetics, 2019.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03903"/>
            <a:ext cx="108813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>[8] 中共中央国务院. 十四五国家科技创新规划[Z]. 2021.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151375"/>
            <a:ext cx="108813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>[9] MIT Tech Review. How DeepSeek ripped up the AI playbook[EB/OL]. 2025.1.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498847"/>
            <a:ext cx="108813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>[10] People's Daily. C919 completes inaugural commercial flight[N]. 2023.5.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846319"/>
            <a:ext cx="108813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>[11] Wikipedia. Chang'e 6: 1935.3g lunar far side samples[EB/OL]. 2024.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193791"/>
            <a:ext cx="108813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2C2C2C"/>
                </a:solidFill>
                <a:latin typeface="微软雅黑"/>
                <a:rFonts eastAsia="微软雅黑"/>
              </a:rPr>
              <a:t>[12] Nature. China's cheap open AI model DeepSeek thrills scientists[J]. 2025.1.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0" y="585216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微软雅黑"/>
                <a:rFonts eastAsia="微软雅黑"/>
              </a:rPr>
              <a:t>感 谢 聆 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0" y="630936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FF8C42"/>
                </a:solidFill>
                <a:latin typeface="Calibri"/>
                <a:rFonts eastAsia="Calibri"/>
              </a:rPr>
              <a:t>Thanks for Your Attention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